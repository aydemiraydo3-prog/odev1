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</p:sldIdLst>
  <p:sldSz cx="12192000" cy="6858000"/>
  <p:notesSz cx="6858000" cy="9144000"/>
  <p:custDataLst>
    <p:tags r:id="rId45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Orta Stil 4 - Vurg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199818-A9A7-23BA-A643-BCBD0843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09CE6C3-82FA-0E2F-3B54-D3A54A5B4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284D6BE-E914-D12E-74AB-629AC0C1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334C870-79D6-657B-797D-8DA2FDF0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D93D5E-AA68-BBE1-4094-284A5758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759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06D40D-D375-5B41-2590-C48B463F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C1A68A-0E78-A4D8-B0FD-2FF5F5A4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A0D971-F34D-437D-F921-B86DDECD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A0470EC-B304-CD24-37C0-E7922213E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1121E50-0A43-CE41-E0AA-861C02F2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606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5B1CB1-B62B-C99A-1F89-2B8E8E45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C962B4B-8488-3A3C-A055-85071EE4B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C45C582-30A9-2816-8957-15E28EA6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56F0902-8AB4-D0D4-E7A6-5898DAF8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F40BB0-B9E9-911E-D735-7B5D358C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318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C35B43-5923-2DAF-E819-FB1AB92B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65BE7A-C5AF-C818-C566-277FDFD56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D9D38F1-3AFD-3D6F-9FE3-232725F1F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4F9B3E-C56D-348D-8895-9A675671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93E7328-0C28-13A9-605F-E604505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2159895-DB2C-0D69-73DF-8F1B5561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559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EFF705-B577-DB10-CCE7-A5580B17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0C4006E-AF1E-283E-47A0-CD42C6E78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73A20C1-7E33-7A2D-64CB-22011B336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DCFBDEB-4EAC-5953-4E80-CFF7E6753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D492E95-3662-DD78-F9FD-752DC4274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A3B7700-D187-D69A-4FE5-BAB5E739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98C2CA3-87B0-42C8-644A-6D83BD69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A7C5139-83F9-4682-178C-5E008913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737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CA0E49-6C13-49E3-594B-51411A87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768D9F5-A9C7-9C88-0CCD-96EFE15E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C8B1633-353B-8274-FA79-10D47990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69B4AF1-547B-A08D-CE92-A183148E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052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2B57A94-BB73-07A1-6C8C-E05F6D40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E0D4555D-80F5-2FD7-9FBF-1213FEC0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5099AD3-3F4D-7997-FBB8-175D2982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207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1C8F48-395D-4FFA-3D2A-5A36A83F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0B6528-F036-1562-8860-7F17A2CC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4A3093-135C-C160-92D3-83C5A6EE3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B223B31-E693-5BC0-5EC5-359BA63C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170A0E7-CBF3-D96C-5078-78F3C716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E2DBE0-C4F7-D1A3-E2A3-CF5BE991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562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B37639-7FCE-8439-3C9C-AE488BAE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BDC6E9B-290A-E249-F636-0DC484B71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D198D98-3BBC-0D25-4CA2-4389715DC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C11F693-7454-E7BA-B6EC-BF1CF085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283036-23C0-ABB9-B78E-ED883B60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0304007-2807-381B-B6B5-EEE6C0BC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87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13F083-C29A-4C4A-7CB8-A304ECF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5271112-4926-411C-3394-03591E8C0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0B3E94-B149-A1C3-EF21-5AC04ED5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E4B284-9668-36BD-94BF-AA21929F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482A558-F20D-41EB-DD7C-53B3E0C5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70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1CC8531-FA4D-5D03-164A-2E6CC9EFA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DC589E1-5ECC-D4A1-3B98-CFD5DFAA2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29EC6FF-E72E-7859-7EF0-47303999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39647B0-59C8-5D7B-5268-0CCA0D7A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B47F7B-08FA-C7C1-97D5-57885270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0267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EEBE62D-D959-4243-83C7-13D43FFA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6C0A750-FC3A-9F8E-85F5-5F42001CC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69AC8D-7A26-A02D-FB66-8DF147347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95DED-9187-4329-B526-7C79442217B7}" type="datetimeFigureOut">
              <a:rPr lang="tr-TR" smtClean="0"/>
              <a:t>21.09.2026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1C451B-4C86-358D-4F00-8BC42AD97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9ED1AAB-1AC0-C7FC-79D5-34E3B9104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ADA47-212F-40B0-819E-9501B646B6E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116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F3FC70-0786-9234-A7D4-B16451A4F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Python ile Log Ayrıştırma</a:t>
            </a:r>
            <a:br>
              <a:rPr lang="tr-TR" b="1" dirty="0"/>
            </a:br>
            <a:r>
              <a:rPr lang="tr-TR" sz="4400" b="1" dirty="0"/>
              <a:t>Ham veriden anlamlı güvenlik olayına</a:t>
            </a:r>
            <a:endParaRPr lang="tr-TR" sz="44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7DAD0CF-1544-F35D-0844-48F654A58C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LOG → PARSE → ANALYZE → RESULT</a:t>
            </a:r>
          </a:p>
        </p:txBody>
      </p:sp>
    </p:spTree>
    <p:extLst>
      <p:ext uri="{BB962C8B-B14F-4D97-AF65-F5344CB8AC3E}">
        <p14:creationId xmlns:p14="http://schemas.microsoft.com/office/powerpoint/2010/main" val="391567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59477-6CE2-01D6-F307-1241AD86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Bu satır neyi ifade ediyor 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B98157-5D3F-EA64-2B04-864356FF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2026-09-21T09:00:00 </a:t>
            </a:r>
            <a:r>
              <a:rPr lang="tr-TR" dirty="0" err="1"/>
              <a:t>src_ip</a:t>
            </a:r>
            <a:r>
              <a:rPr lang="tr-TR" dirty="0"/>
              <a:t>=10.10.1.12 </a:t>
            </a:r>
            <a:r>
              <a:rPr lang="tr-TR" dirty="0" err="1"/>
              <a:t>user</a:t>
            </a:r>
            <a:r>
              <a:rPr lang="tr-TR" dirty="0"/>
              <a:t>=ali </a:t>
            </a:r>
            <a:r>
              <a:rPr lang="tr-TR" dirty="0" err="1"/>
              <a:t>event</a:t>
            </a:r>
            <a:r>
              <a:rPr lang="tr-TR" dirty="0"/>
              <a:t>=LOGIN </a:t>
            </a:r>
            <a:r>
              <a:rPr lang="tr-TR" dirty="0" err="1"/>
              <a:t>status</a:t>
            </a:r>
            <a:r>
              <a:rPr lang="tr-TR" dirty="0"/>
              <a:t>=FAILED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5151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AA42FD-2C49-544C-2E35-A52DF4E4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47F664-3200-9F83-B3F8-69D3F9F84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Zaman   : 2026-09-21 09:00</a:t>
            </a:r>
          </a:p>
          <a:p>
            <a:pPr marL="0" indent="0">
              <a:buNone/>
            </a:pPr>
            <a:r>
              <a:rPr lang="tr-TR" dirty="0"/>
              <a:t>IP      : 10.10.1.12</a:t>
            </a:r>
          </a:p>
          <a:p>
            <a:pPr marL="0" indent="0">
              <a:buNone/>
            </a:pPr>
            <a:r>
              <a:rPr lang="tr-TR" dirty="0"/>
              <a:t>Kullanıcı: ali</a:t>
            </a:r>
          </a:p>
          <a:p>
            <a:pPr marL="0" indent="0">
              <a:buNone/>
            </a:pPr>
            <a:r>
              <a:rPr lang="tr-TR" dirty="0"/>
              <a:t>Olay    : LOGIN</a:t>
            </a:r>
          </a:p>
          <a:p>
            <a:pPr marL="0" indent="0">
              <a:buNone/>
            </a:pPr>
            <a:r>
              <a:rPr lang="tr-TR" dirty="0"/>
              <a:t>Durum   : FAILED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İnsan okuyunca anlamlı.</a:t>
            </a:r>
          </a:p>
          <a:p>
            <a:pPr marL="0" indent="0">
              <a:buNone/>
            </a:pPr>
            <a:r>
              <a:rPr lang="tr-TR" dirty="0"/>
              <a:t>Ama bilgisayar açısından?</a:t>
            </a:r>
          </a:p>
          <a:p>
            <a:pPr marL="0" indent="0">
              <a:buNone/>
            </a:pPr>
            <a:r>
              <a:rPr lang="tr-TR" b="1" dirty="0"/>
              <a:t>Sadece bir </a:t>
            </a:r>
            <a:r>
              <a:rPr lang="tr-TR" b="1" dirty="0" err="1"/>
              <a:t>string</a:t>
            </a:r>
            <a:r>
              <a:rPr lang="tr-TR" b="1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708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F17EC5-9E80-0615-8C6F-64FDE785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C51C9BC-0C17-2102-6CEC-0D094D1D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tr-TR" dirty="0"/>
              <a:t>Log, bir sistemde gerçekleşen olayların kaydıdır.</a:t>
            </a:r>
          </a:p>
          <a:p>
            <a:pPr marL="0" indent="0">
              <a:buNone/>
            </a:pPr>
            <a:r>
              <a:rPr lang="tr-TR" dirty="0"/>
              <a:t>Örneğin:</a:t>
            </a:r>
          </a:p>
          <a:p>
            <a:r>
              <a:rPr lang="tr-TR" dirty="0"/>
              <a:t>Kullanıcı giriş yaptı. </a:t>
            </a:r>
          </a:p>
          <a:p>
            <a:r>
              <a:rPr lang="tr-TR" dirty="0"/>
              <a:t>Giriş başarısız oldu. </a:t>
            </a:r>
          </a:p>
          <a:p>
            <a:r>
              <a:rPr lang="tr-TR" dirty="0"/>
              <a:t>Dosya açıldı. </a:t>
            </a:r>
          </a:p>
          <a:p>
            <a:r>
              <a:rPr lang="tr-TR" dirty="0"/>
              <a:t>API çağrıldı. </a:t>
            </a:r>
          </a:p>
          <a:p>
            <a:r>
              <a:rPr lang="tr-TR" dirty="0"/>
              <a:t>Firewall bağlantıyı engelledi. </a:t>
            </a:r>
          </a:p>
          <a:p>
            <a:r>
              <a:rPr lang="tr-TR" dirty="0"/>
              <a:t>Uygulama hata verdi. </a:t>
            </a:r>
          </a:p>
          <a:p>
            <a:r>
              <a:rPr lang="tr-TR" dirty="0" err="1"/>
              <a:t>Veritabanında</a:t>
            </a:r>
            <a:r>
              <a:rPr lang="tr-TR" dirty="0"/>
              <a:t> işlem yapıldı.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075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0FC955-3BE8-C33D-B6DC-418B679B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4A48CC9-1BB4-4708-7435-8CFC19439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Güvenlik ürünlerinin büyük bölümü loglardan beslenir.</a:t>
            </a:r>
          </a:p>
          <a:p>
            <a:r>
              <a:rPr lang="tr-TR" dirty="0"/>
              <a:t>SIEM, IDS, EDR, WAF, DLP...</a:t>
            </a:r>
          </a:p>
          <a:p>
            <a:pPr marL="0" indent="0">
              <a:buNone/>
            </a:pPr>
            <a:r>
              <a:rPr lang="tr-TR" dirty="0"/>
              <a:t>hepsi bir noktada:</a:t>
            </a:r>
          </a:p>
          <a:p>
            <a:pPr marL="0" indent="0">
              <a:buNone/>
            </a:pPr>
            <a:r>
              <a:rPr lang="tr-TR" b="1" dirty="0"/>
              <a:t>Olay verisini anlamlandırmak zorundadır.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4885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D6C851-ACB2-219B-C23F-09F5E1E4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auth.log Dosyası ile çalış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BDBF00-D53E-B149-2309-166A6C7B9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datasets</a:t>
            </a:r>
            <a:r>
              <a:rPr lang="tr-TR" dirty="0"/>
              <a:t>/auth.log |   Her satır bir olayı temsil etmektedir.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Örnek kayıtlar:</a:t>
            </a:r>
          </a:p>
          <a:p>
            <a:r>
              <a:rPr lang="tr-TR" dirty="0"/>
              <a:t>2026-09-21T09:00:00 </a:t>
            </a:r>
            <a:r>
              <a:rPr lang="tr-TR" dirty="0" err="1"/>
              <a:t>src_ip</a:t>
            </a:r>
            <a:r>
              <a:rPr lang="tr-TR" dirty="0"/>
              <a:t>=10.10.1.12 </a:t>
            </a:r>
            <a:r>
              <a:rPr lang="tr-TR" dirty="0" err="1"/>
              <a:t>user</a:t>
            </a:r>
            <a:r>
              <a:rPr lang="tr-TR" dirty="0"/>
              <a:t>=ali </a:t>
            </a:r>
            <a:r>
              <a:rPr lang="tr-TR" dirty="0" err="1"/>
              <a:t>event</a:t>
            </a:r>
            <a:r>
              <a:rPr lang="tr-TR" dirty="0"/>
              <a:t>=LOGIN </a:t>
            </a:r>
            <a:r>
              <a:rPr lang="tr-TR" dirty="0" err="1"/>
              <a:t>status</a:t>
            </a:r>
            <a:r>
              <a:rPr lang="tr-TR" dirty="0"/>
              <a:t>=FAILED</a:t>
            </a:r>
          </a:p>
          <a:p>
            <a:r>
              <a:rPr lang="tr-TR" dirty="0"/>
              <a:t>2026-09-21T09:02:00 </a:t>
            </a:r>
            <a:r>
              <a:rPr lang="tr-TR" dirty="0" err="1"/>
              <a:t>src_ip</a:t>
            </a:r>
            <a:r>
              <a:rPr lang="tr-TR" dirty="0"/>
              <a:t>=10.10.1.11 </a:t>
            </a:r>
            <a:r>
              <a:rPr lang="tr-TR" dirty="0" err="1"/>
              <a:t>user</a:t>
            </a:r>
            <a:r>
              <a:rPr lang="tr-TR" dirty="0"/>
              <a:t>=ali </a:t>
            </a:r>
            <a:r>
              <a:rPr lang="tr-TR" dirty="0" err="1"/>
              <a:t>event</a:t>
            </a:r>
            <a:r>
              <a:rPr lang="tr-TR" dirty="0"/>
              <a:t>=LOGIN </a:t>
            </a:r>
            <a:r>
              <a:rPr lang="tr-TR" dirty="0" err="1"/>
              <a:t>status</a:t>
            </a:r>
            <a:r>
              <a:rPr lang="tr-TR" dirty="0"/>
              <a:t>=SUCCESS</a:t>
            </a:r>
          </a:p>
          <a:p>
            <a:r>
              <a:rPr lang="tr-TR" dirty="0"/>
              <a:t>2026-09-21T09:04:00 </a:t>
            </a:r>
            <a:r>
              <a:rPr lang="tr-TR" dirty="0" err="1"/>
              <a:t>src_ip</a:t>
            </a:r>
            <a:r>
              <a:rPr lang="tr-TR" dirty="0"/>
              <a:t>=10.10.1.12 </a:t>
            </a:r>
            <a:r>
              <a:rPr lang="tr-TR" dirty="0" err="1"/>
              <a:t>user</a:t>
            </a:r>
            <a:r>
              <a:rPr lang="tr-TR" dirty="0"/>
              <a:t>=ali </a:t>
            </a:r>
            <a:r>
              <a:rPr lang="tr-TR" dirty="0" err="1"/>
              <a:t>event</a:t>
            </a:r>
            <a:r>
              <a:rPr lang="tr-TR" dirty="0"/>
              <a:t>=LOGIN </a:t>
            </a:r>
            <a:r>
              <a:rPr lang="tr-TR" dirty="0" err="1"/>
              <a:t>status</a:t>
            </a:r>
            <a:r>
              <a:rPr lang="tr-TR" dirty="0"/>
              <a:t>=SUCCESS</a:t>
            </a:r>
          </a:p>
        </p:txBody>
      </p:sp>
    </p:spTree>
    <p:extLst>
      <p:ext uri="{BB962C8B-B14F-4D97-AF65-F5344CB8AC3E}">
        <p14:creationId xmlns:p14="http://schemas.microsoft.com/office/powerpoint/2010/main" val="426890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8D5AC-E21D-FA29-3D02-CD80387F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 Satırının Anatomisi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27A8D7-CF80-58EE-EB02-5DBEBAA8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2026-09-21T09:00:00 </a:t>
            </a:r>
            <a:r>
              <a:rPr lang="tr-TR" dirty="0" err="1"/>
              <a:t>src_ip</a:t>
            </a:r>
            <a:r>
              <a:rPr lang="tr-TR" dirty="0"/>
              <a:t>=10.10.1.12 </a:t>
            </a:r>
            <a:r>
              <a:rPr lang="tr-TR" dirty="0" err="1"/>
              <a:t>user</a:t>
            </a:r>
            <a:r>
              <a:rPr lang="tr-TR" dirty="0"/>
              <a:t>=ali </a:t>
            </a:r>
            <a:r>
              <a:rPr lang="tr-TR" dirty="0" err="1"/>
              <a:t>event</a:t>
            </a:r>
            <a:r>
              <a:rPr lang="tr-TR" dirty="0"/>
              <a:t>=LOGIN </a:t>
            </a:r>
            <a:r>
              <a:rPr lang="tr-TR" dirty="0" err="1"/>
              <a:t>status</a:t>
            </a:r>
            <a:r>
              <a:rPr lang="tr-TR" dirty="0"/>
              <a:t>=FAILED</a:t>
            </a:r>
          </a:p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5103B7C3-758A-B60F-BC69-FA2DBFD4E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115369"/>
              </p:ext>
            </p:extLst>
          </p:nvPr>
        </p:nvGraphicFramePr>
        <p:xfrm>
          <a:off x="2853267" y="3369680"/>
          <a:ext cx="6739467" cy="245364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8294756"/>
                    </a:ext>
                  </a:extLst>
                </a:gridCol>
                <a:gridCol w="3401907">
                  <a:extLst>
                    <a:ext uri="{9D8B030D-6E8A-4147-A177-3AD203B41FA5}">
                      <a16:colId xmlns:a16="http://schemas.microsoft.com/office/drawing/2014/main" val="4230128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sz="2500" b="1" dirty="0"/>
                        <a:t>Alan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500" b="1" dirty="0"/>
                        <a:t>Değer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870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000" dirty="0" err="1"/>
                        <a:t>timestamp</a:t>
                      </a:r>
                      <a:endParaRPr lang="tr-T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/>
                        <a:t>2026-09-21T09:00:00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12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000" dirty="0" err="1"/>
                        <a:t>src_ip</a:t>
                      </a:r>
                      <a:endParaRPr lang="tr-T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/>
                        <a:t>10.10.1.12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620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000" dirty="0" err="1"/>
                        <a:t>user</a:t>
                      </a:r>
                      <a:endParaRPr lang="tr-TR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53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000"/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4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00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429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31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1E6B8C-E70D-4089-1328-33852318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hedefimiz Python'da bunu: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095CD7-C21A-018A-03AA-4C9F4829C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{</a:t>
            </a:r>
          </a:p>
          <a:p>
            <a:pPr marL="0" indent="0">
              <a:buNone/>
            </a:pPr>
            <a:r>
              <a:rPr lang="tr-TR" dirty="0"/>
              <a:t>    "</a:t>
            </a:r>
            <a:r>
              <a:rPr lang="tr-TR" dirty="0" err="1"/>
              <a:t>timestamp</a:t>
            </a:r>
            <a:r>
              <a:rPr lang="tr-TR" dirty="0"/>
              <a:t>": "2026-09-21T09:00:00",</a:t>
            </a:r>
          </a:p>
          <a:p>
            <a:pPr marL="0" indent="0">
              <a:buNone/>
            </a:pPr>
            <a:r>
              <a:rPr lang="tr-TR" dirty="0"/>
              <a:t>    "</a:t>
            </a:r>
            <a:r>
              <a:rPr lang="tr-TR" dirty="0" err="1"/>
              <a:t>src_ip</a:t>
            </a:r>
            <a:r>
              <a:rPr lang="tr-TR" dirty="0"/>
              <a:t>": "10.10.1.12",</a:t>
            </a:r>
          </a:p>
          <a:p>
            <a:pPr marL="0" indent="0">
              <a:buNone/>
            </a:pPr>
            <a:r>
              <a:rPr lang="tr-TR" dirty="0"/>
              <a:t>    "</a:t>
            </a:r>
            <a:r>
              <a:rPr lang="tr-TR" dirty="0" err="1"/>
              <a:t>user</a:t>
            </a:r>
            <a:r>
              <a:rPr lang="tr-TR" dirty="0"/>
              <a:t>": "ali",</a:t>
            </a:r>
          </a:p>
          <a:p>
            <a:pPr marL="0" indent="0">
              <a:buNone/>
            </a:pPr>
            <a:r>
              <a:rPr lang="tr-TR" dirty="0"/>
              <a:t>    "</a:t>
            </a:r>
            <a:r>
              <a:rPr lang="tr-TR" dirty="0" err="1"/>
              <a:t>event</a:t>
            </a:r>
            <a:r>
              <a:rPr lang="tr-TR" dirty="0"/>
              <a:t>": "LOGIN",</a:t>
            </a:r>
          </a:p>
          <a:p>
            <a:pPr marL="0" indent="0">
              <a:buNone/>
            </a:pPr>
            <a:r>
              <a:rPr lang="tr-TR" dirty="0"/>
              <a:t>    "</a:t>
            </a:r>
            <a:r>
              <a:rPr lang="tr-TR" dirty="0" err="1"/>
              <a:t>status</a:t>
            </a:r>
            <a:r>
              <a:rPr lang="tr-TR" dirty="0"/>
              <a:t>": "FAILED"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şeklinde temsil etmek.</a:t>
            </a:r>
          </a:p>
        </p:txBody>
      </p:sp>
    </p:spTree>
    <p:extLst>
      <p:ext uri="{BB962C8B-B14F-4D97-AF65-F5344CB8AC3E}">
        <p14:creationId xmlns:p14="http://schemas.microsoft.com/office/powerpoint/2010/main" val="261527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F80F40-DDFC-ED9E-6E22-F20FFA09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Parser'ın</a:t>
            </a:r>
            <a:r>
              <a:rPr lang="tr-TR" dirty="0"/>
              <a:t> Görevi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4125CB-5EF3-CAE8-BA23-36C6F0C6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1" y="1470024"/>
            <a:ext cx="11650133" cy="5692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b="1" dirty="0" err="1"/>
              <a:t>Parser</a:t>
            </a:r>
            <a:r>
              <a:rPr lang="tr-TR" sz="2000" b="1" dirty="0"/>
              <a:t>:</a:t>
            </a:r>
            <a:r>
              <a:rPr lang="tr-TR" sz="2000" dirty="0"/>
              <a:t> Ham veriyi programın kolayca kullanabileceği yapıya dönüştürür.</a:t>
            </a:r>
          </a:p>
          <a:p>
            <a:pPr marL="0" indent="0">
              <a:buNone/>
            </a:pPr>
            <a:r>
              <a:rPr lang="tr-TR" sz="2000" dirty="0"/>
              <a:t>HAM LOG:   </a:t>
            </a:r>
          </a:p>
          <a:p>
            <a:pPr marL="0" indent="0">
              <a:buNone/>
            </a:pPr>
            <a:r>
              <a:rPr lang="tr-TR" sz="2000" dirty="0"/>
              <a:t>2026-09-21T09:00:00 </a:t>
            </a:r>
            <a:r>
              <a:rPr lang="tr-TR" sz="2000" dirty="0" err="1"/>
              <a:t>src_ip</a:t>
            </a:r>
            <a:r>
              <a:rPr lang="tr-TR" sz="2000" dirty="0"/>
              <a:t>=10.10.1.12 ...</a:t>
            </a:r>
          </a:p>
          <a:p>
            <a:pPr marL="0" indent="0">
              <a:buNone/>
            </a:pPr>
            <a:r>
              <a:rPr lang="tr-TR" sz="2000" dirty="0"/>
              <a:t>                ↓</a:t>
            </a:r>
          </a:p>
          <a:p>
            <a:pPr marL="0" indent="0">
              <a:buNone/>
            </a:pPr>
            <a:r>
              <a:rPr lang="tr-TR" sz="2000" dirty="0"/>
              <a:t>             PARSER</a:t>
            </a:r>
          </a:p>
          <a:p>
            <a:pPr marL="0" indent="0">
              <a:buNone/>
            </a:pPr>
            <a:r>
              <a:rPr lang="tr-TR" sz="2000" dirty="0"/>
              <a:t>                ↓</a:t>
            </a:r>
          </a:p>
          <a:p>
            <a:pPr marL="0" indent="0">
              <a:buNone/>
            </a:pPr>
            <a:r>
              <a:rPr lang="tr-TR" sz="2000" dirty="0"/>
              <a:t>STRUCTURED EVENT</a:t>
            </a:r>
          </a:p>
          <a:p>
            <a:pPr marL="0" indent="0">
              <a:buNone/>
            </a:pPr>
            <a:r>
              <a:rPr lang="tr-TR" sz="2000" dirty="0"/>
              <a:t>{</a:t>
            </a:r>
          </a:p>
          <a:p>
            <a:pPr marL="0" indent="0">
              <a:buNone/>
            </a:pPr>
            <a:r>
              <a:rPr lang="tr-TR" sz="2000" dirty="0"/>
              <a:t>  </a:t>
            </a:r>
            <a:r>
              <a:rPr lang="tr-TR" sz="2000" dirty="0" err="1"/>
              <a:t>timestamp</a:t>
            </a:r>
            <a:r>
              <a:rPr lang="tr-TR" sz="2000" dirty="0"/>
              <a:t>: "...",</a:t>
            </a:r>
          </a:p>
          <a:p>
            <a:pPr marL="0" indent="0">
              <a:buNone/>
            </a:pPr>
            <a:r>
              <a:rPr lang="tr-TR" sz="2000" dirty="0"/>
              <a:t>  </a:t>
            </a:r>
            <a:r>
              <a:rPr lang="tr-TR" sz="2000" dirty="0" err="1"/>
              <a:t>src_ip</a:t>
            </a:r>
            <a:r>
              <a:rPr lang="tr-TR" sz="2000" dirty="0"/>
              <a:t>: "...",</a:t>
            </a:r>
          </a:p>
          <a:p>
            <a:pPr marL="0" indent="0">
              <a:buNone/>
            </a:pPr>
            <a:r>
              <a:rPr lang="tr-TR" sz="2000" dirty="0"/>
              <a:t>  </a:t>
            </a:r>
            <a:r>
              <a:rPr lang="tr-TR" sz="2000" dirty="0" err="1"/>
              <a:t>user</a:t>
            </a:r>
            <a:r>
              <a:rPr lang="tr-TR" sz="2000" dirty="0"/>
              <a:t>: "...",</a:t>
            </a:r>
          </a:p>
          <a:p>
            <a:pPr marL="0" indent="0">
              <a:buNone/>
            </a:pPr>
            <a:r>
              <a:rPr lang="tr-TR" sz="2000" dirty="0"/>
              <a:t>  </a:t>
            </a:r>
            <a:r>
              <a:rPr lang="tr-TR" sz="2000" dirty="0" err="1"/>
              <a:t>status</a:t>
            </a:r>
            <a:r>
              <a:rPr lang="tr-TR" sz="2000" dirty="0"/>
              <a:t>: "FAILED"</a:t>
            </a:r>
          </a:p>
          <a:p>
            <a:pPr marL="0" indent="0">
              <a:buNone/>
            </a:pPr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5537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80DCB8-E389-146D-4337-FC5BF956E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132"/>
            <a:ext cx="10515600" cy="6510867"/>
          </a:xfrm>
        </p:spPr>
        <p:txBody>
          <a:bodyPr>
            <a:normAutofit/>
          </a:bodyPr>
          <a:lstStyle/>
          <a:p>
            <a:r>
              <a:rPr lang="tr-TR" b="1" dirty="0" err="1"/>
              <a:t>Parser</a:t>
            </a:r>
            <a:r>
              <a:rPr lang="tr-TR" b="1" dirty="0"/>
              <a:t> henüz saldırı tespit etmiyor. </a:t>
            </a:r>
            <a:r>
              <a:rPr lang="tr-TR" dirty="0"/>
              <a:t>Sadece veriyi </a:t>
            </a:r>
            <a:r>
              <a:rPr lang="tr-TR" b="1" dirty="0"/>
              <a:t>anlamlandırıyor.</a:t>
            </a:r>
          </a:p>
          <a:p>
            <a:endParaRPr lang="tr-TR" b="1" dirty="0"/>
          </a:p>
          <a:p>
            <a:r>
              <a:rPr lang="tr-TR" dirty="0" err="1"/>
              <a:t>Parser</a:t>
            </a:r>
            <a:r>
              <a:rPr lang="tr-TR" dirty="0"/>
              <a:t> ≠ </a:t>
            </a:r>
            <a:r>
              <a:rPr lang="tr-TR" dirty="0" err="1"/>
              <a:t>Detection</a:t>
            </a:r>
            <a:r>
              <a:rPr lang="tr-TR" dirty="0"/>
              <a:t> Engine</a:t>
            </a:r>
          </a:p>
          <a:p>
            <a:r>
              <a:rPr lang="tr-TR" b="1" dirty="0" err="1"/>
              <a:t>Parser</a:t>
            </a:r>
            <a:r>
              <a:rPr lang="tr-TR" b="1" dirty="0"/>
              <a:t>: </a:t>
            </a:r>
            <a:r>
              <a:rPr lang="tr-TR" dirty="0"/>
              <a:t>HAM VERİ → YAPILANDIRILMIŞ VERİ</a:t>
            </a:r>
          </a:p>
          <a:p>
            <a:r>
              <a:rPr lang="tr-TR" b="1" dirty="0" err="1"/>
              <a:t>Detection</a:t>
            </a:r>
            <a:r>
              <a:rPr lang="tr-TR" b="1" dirty="0"/>
              <a:t> Engine: </a:t>
            </a:r>
            <a:r>
              <a:rPr lang="tr-TR" dirty="0"/>
              <a:t>YAPILANDIRILMIŞ VERİ → KARAR</a:t>
            </a:r>
          </a:p>
          <a:p>
            <a:endParaRPr lang="tr-TR" dirty="0"/>
          </a:p>
          <a:p>
            <a:r>
              <a:rPr lang="tr-TR" dirty="0" err="1"/>
              <a:t>Failed</a:t>
            </a:r>
            <a:r>
              <a:rPr lang="tr-TR" dirty="0"/>
              <a:t> Login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b="1" dirty="0" err="1"/>
              <a:t>Parser</a:t>
            </a:r>
            <a:r>
              <a:rPr lang="tr-TR" dirty="0"/>
              <a:t> için yalnızca bir değerdir.</a:t>
            </a:r>
          </a:p>
          <a:p>
            <a:endParaRPr lang="tr-TR" dirty="0"/>
          </a:p>
          <a:p>
            <a:r>
              <a:rPr lang="tr-TR" b="1" dirty="0" err="1"/>
              <a:t>Detection</a:t>
            </a:r>
            <a:r>
              <a:rPr lang="tr-TR" b="1" dirty="0"/>
              <a:t> Engine </a:t>
            </a:r>
            <a:r>
              <a:rPr lang="tr-TR" dirty="0"/>
              <a:t>daha sonra: “Bu IP'den 10 dakikada 20 FAILED login olmuş.” kararını verecektir.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73045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324900-5010-4494-DD9B-20A89FE5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00025"/>
            <a:ext cx="10515600" cy="656484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tr-TR" sz="2000" b="1" dirty="0"/>
              <a:t>auth.log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Dosyayı Oku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Satırlara Ayır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 err="1"/>
              <a:t>parse_line</a:t>
            </a:r>
            <a:r>
              <a:rPr lang="tr-TR" sz="2000" b="1" dirty="0"/>
              <a:t>()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Dictionary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SUCCESS / FAILED Say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FAILED IP'leri Say</a:t>
            </a:r>
          </a:p>
          <a:p>
            <a:pPr marL="0" indent="0" algn="ctr">
              <a:buNone/>
            </a:pPr>
            <a:r>
              <a:rPr lang="tr-TR" sz="2000" b="1" dirty="0"/>
              <a:t>   ↓</a:t>
            </a:r>
          </a:p>
          <a:p>
            <a:pPr marL="0" indent="0" algn="ctr">
              <a:buNone/>
            </a:pPr>
            <a:r>
              <a:rPr lang="tr-TR" sz="2000" b="1" dirty="0"/>
              <a:t>En Şüpheli IP'yi Bul</a:t>
            </a:r>
          </a:p>
        </p:txBody>
      </p:sp>
    </p:spTree>
    <p:extLst>
      <p:ext uri="{BB962C8B-B14F-4D97-AF65-F5344CB8AC3E}">
        <p14:creationId xmlns:p14="http://schemas.microsoft.com/office/powerpoint/2010/main" val="599120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75D9A2-947B-6973-1E2F-116A25A4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student/week02_log_parser.py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936330-E877-5D20-B9F8-2F1620BE8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6" y="207115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err="1"/>
              <a:t>pathlib</a:t>
            </a:r>
            <a:r>
              <a:rPr lang="tr-TR" sz="2000" dirty="0"/>
              <a:t> </a:t>
            </a:r>
            <a:r>
              <a:rPr lang="tr-TR" sz="2000" dirty="0" err="1"/>
              <a:t>import</a:t>
            </a:r>
            <a:r>
              <a:rPr lang="tr-TR" sz="2000" dirty="0"/>
              <a:t> </a:t>
            </a:r>
            <a:r>
              <a:rPr lang="tr-TR" sz="2000" dirty="0" err="1"/>
              <a:t>Path</a:t>
            </a:r>
            <a:endParaRPr lang="tr-TR" sz="2000" dirty="0"/>
          </a:p>
          <a:p>
            <a:pPr marL="0" indent="0">
              <a:buNone/>
            </a:pP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err="1"/>
              <a:t>collections</a:t>
            </a:r>
            <a:r>
              <a:rPr lang="tr-TR" sz="2000" dirty="0"/>
              <a:t> </a:t>
            </a:r>
            <a:r>
              <a:rPr lang="tr-TR" sz="2000" dirty="0" err="1"/>
              <a:t>import</a:t>
            </a:r>
            <a:r>
              <a:rPr lang="tr-TR" sz="2000" dirty="0"/>
              <a:t> Counter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/>
              <a:t>LOG = </a:t>
            </a:r>
            <a:r>
              <a:rPr lang="tr-TR" sz="2000" dirty="0" err="1"/>
              <a:t>Path</a:t>
            </a:r>
            <a:r>
              <a:rPr lang="tr-TR" sz="2000" dirty="0"/>
              <a:t>(__file__).</a:t>
            </a:r>
            <a:r>
              <a:rPr lang="tr-TR" sz="2000" dirty="0" err="1"/>
              <a:t>parents</a:t>
            </a:r>
            <a:r>
              <a:rPr lang="tr-TR" sz="2000" dirty="0"/>
              <a:t>[1] / "</a:t>
            </a:r>
            <a:r>
              <a:rPr lang="tr-TR" sz="2000" dirty="0" err="1"/>
              <a:t>datasets</a:t>
            </a:r>
            <a:r>
              <a:rPr lang="tr-TR" sz="2000" dirty="0"/>
              <a:t>" / "auth.log"</a:t>
            </a:r>
          </a:p>
          <a:p>
            <a:pPr marL="0" indent="0">
              <a:buNone/>
            </a:pPr>
            <a:r>
              <a:rPr lang="tr-TR" sz="2000" dirty="0"/>
              <a:t>def </a:t>
            </a:r>
            <a:r>
              <a:rPr lang="tr-TR" sz="2000" dirty="0" err="1"/>
              <a:t>parse_line</a:t>
            </a:r>
            <a:r>
              <a:rPr lang="tr-TR" sz="2000" dirty="0"/>
              <a:t>(</a:t>
            </a:r>
            <a:r>
              <a:rPr lang="tr-TR" sz="2000" dirty="0" err="1"/>
              <a:t>line</a:t>
            </a:r>
            <a:r>
              <a:rPr lang="tr-TR" sz="2000" dirty="0"/>
              <a:t>: </a:t>
            </a:r>
            <a:r>
              <a:rPr lang="tr-TR" sz="2000" dirty="0" err="1"/>
              <a:t>str</a:t>
            </a:r>
            <a:r>
              <a:rPr lang="tr-TR" sz="2000" dirty="0"/>
              <a:t>) -&gt; </a:t>
            </a:r>
            <a:r>
              <a:rPr lang="tr-TR" sz="2000" dirty="0" err="1"/>
              <a:t>dict</a:t>
            </a:r>
            <a:r>
              <a:rPr lang="tr-TR" sz="2000" dirty="0"/>
              <a:t>:</a:t>
            </a:r>
          </a:p>
          <a:p>
            <a:pPr marL="0" indent="0">
              <a:buNone/>
            </a:pPr>
            <a:r>
              <a:rPr lang="tr-TR" sz="2000" dirty="0"/>
              <a:t> 	</a:t>
            </a:r>
            <a:r>
              <a:rPr lang="tr-TR" sz="2000" dirty="0" err="1"/>
              <a:t>items</a:t>
            </a:r>
            <a:r>
              <a:rPr lang="tr-TR" sz="2000" dirty="0"/>
              <a:t>=</a:t>
            </a:r>
            <a:r>
              <a:rPr lang="tr-TR" sz="2000" dirty="0" err="1"/>
              <a:t>line.strip</a:t>
            </a:r>
            <a:r>
              <a:rPr lang="tr-TR" sz="2000" dirty="0"/>
              <a:t>().</a:t>
            </a:r>
            <a:r>
              <a:rPr lang="tr-TR" sz="2000" dirty="0" err="1"/>
              <a:t>split</a:t>
            </a:r>
            <a:r>
              <a:rPr lang="tr-TR" sz="2000" dirty="0"/>
              <a:t>()    </a:t>
            </a:r>
          </a:p>
          <a:p>
            <a:pPr marL="0" indent="0">
              <a:buNone/>
            </a:pPr>
            <a:r>
              <a:rPr lang="tr-TR" sz="2000" dirty="0"/>
              <a:t>	data={"</a:t>
            </a:r>
            <a:r>
              <a:rPr lang="tr-TR" sz="2000" dirty="0" err="1"/>
              <a:t>timestamp</a:t>
            </a:r>
            <a:r>
              <a:rPr lang="tr-TR" sz="2000" dirty="0"/>
              <a:t>":</a:t>
            </a:r>
            <a:r>
              <a:rPr lang="tr-TR" sz="2000" dirty="0" err="1"/>
              <a:t>items</a:t>
            </a:r>
            <a:r>
              <a:rPr lang="tr-TR" sz="2000" dirty="0"/>
              <a:t>[0]}   </a:t>
            </a:r>
          </a:p>
          <a:p>
            <a:pPr marL="0" indent="0">
              <a:buNone/>
            </a:pPr>
            <a:r>
              <a:rPr lang="tr-TR" sz="2000" dirty="0"/>
              <a:t>	 </a:t>
            </a:r>
            <a:r>
              <a:rPr lang="tr-TR" sz="2000" dirty="0" err="1"/>
              <a:t>for</a:t>
            </a:r>
            <a:r>
              <a:rPr lang="tr-TR" sz="2000" dirty="0"/>
              <a:t> </a:t>
            </a:r>
            <a:r>
              <a:rPr lang="tr-TR" sz="2000" dirty="0" err="1"/>
              <a:t>item</a:t>
            </a:r>
            <a:r>
              <a:rPr lang="tr-TR" sz="2000" dirty="0"/>
              <a:t> in </a:t>
            </a:r>
            <a:r>
              <a:rPr lang="tr-TR" sz="2000" dirty="0" err="1"/>
              <a:t>items</a:t>
            </a:r>
            <a:r>
              <a:rPr lang="tr-TR" sz="2000" dirty="0"/>
              <a:t>[1:]:       </a:t>
            </a:r>
          </a:p>
          <a:p>
            <a:pPr marL="0" indent="0">
              <a:buNone/>
            </a:pPr>
            <a:r>
              <a:rPr lang="tr-TR" sz="2000" dirty="0"/>
              <a:t>	 </a:t>
            </a:r>
            <a:r>
              <a:rPr lang="tr-TR" sz="2000" dirty="0" err="1"/>
              <a:t>k,v</a:t>
            </a:r>
            <a:r>
              <a:rPr lang="tr-TR" sz="2000" dirty="0"/>
              <a:t>=</a:t>
            </a:r>
            <a:r>
              <a:rPr lang="tr-TR" sz="2000" dirty="0" err="1"/>
              <a:t>item.split</a:t>
            </a:r>
            <a:r>
              <a:rPr lang="tr-TR" sz="2000" dirty="0"/>
              <a:t>("=",1); </a:t>
            </a:r>
          </a:p>
          <a:p>
            <a:pPr marL="0" indent="0">
              <a:buNone/>
            </a:pPr>
            <a:r>
              <a:rPr lang="tr-TR" sz="2000" dirty="0"/>
              <a:t>	data[k]=v    </a:t>
            </a:r>
          </a:p>
          <a:p>
            <a:pPr marL="0" indent="0">
              <a:buNone/>
            </a:pPr>
            <a:r>
              <a:rPr lang="tr-TR" sz="2000" dirty="0"/>
              <a:t>	</a:t>
            </a:r>
            <a:r>
              <a:rPr lang="tr-TR" sz="2000" dirty="0" err="1"/>
              <a:t>return</a:t>
            </a:r>
            <a:r>
              <a:rPr lang="tr-TR" sz="20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69164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3239-770E-2CE6-2EEA-F84D0D8A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B7D2D4-6613-2113-A35F-0FCC2518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student/week02_log_parser.py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02F673-BBFE-2898-DFCD-D530D601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6" y="207115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dirty="0"/>
              <a:t>def main():   </a:t>
            </a:r>
          </a:p>
          <a:p>
            <a:pPr marL="0" indent="0">
              <a:buNone/>
            </a:pPr>
            <a:r>
              <a:rPr lang="tr-TR" sz="2000" dirty="0" err="1"/>
              <a:t>records</a:t>
            </a:r>
            <a:r>
              <a:rPr lang="tr-TR" sz="2000" dirty="0"/>
              <a:t>=[</a:t>
            </a:r>
            <a:r>
              <a:rPr lang="tr-TR" sz="2000" dirty="0" err="1"/>
              <a:t>parse_line</a:t>
            </a:r>
            <a:r>
              <a:rPr lang="tr-TR" sz="2000" dirty="0"/>
              <a:t>(x)</a:t>
            </a:r>
          </a:p>
          <a:p>
            <a:pPr marL="0" indent="0">
              <a:buNone/>
            </a:pPr>
            <a:r>
              <a:rPr lang="tr-TR" sz="2000" dirty="0" err="1"/>
              <a:t>for</a:t>
            </a:r>
            <a:r>
              <a:rPr lang="tr-TR" sz="2000" dirty="0"/>
              <a:t> x in </a:t>
            </a:r>
            <a:r>
              <a:rPr lang="tr-TR" sz="2000" dirty="0" err="1"/>
              <a:t>LOG.read_text</a:t>
            </a:r>
            <a:r>
              <a:rPr lang="tr-TR" sz="2000" dirty="0"/>
              <a:t>(</a:t>
            </a:r>
            <a:r>
              <a:rPr lang="tr-TR" sz="2000" dirty="0" err="1"/>
              <a:t>encoding</a:t>
            </a:r>
            <a:r>
              <a:rPr lang="tr-TR" sz="2000" dirty="0"/>
              <a:t>="utf-8").</a:t>
            </a:r>
            <a:r>
              <a:rPr lang="tr-TR" sz="2000" dirty="0" err="1"/>
              <a:t>splitlines</a:t>
            </a:r>
            <a:r>
              <a:rPr lang="tr-TR" sz="2000" dirty="0"/>
              <a:t>() </a:t>
            </a:r>
            <a:r>
              <a:rPr lang="tr-TR" sz="2000" dirty="0" err="1"/>
              <a:t>if</a:t>
            </a:r>
            <a:r>
              <a:rPr lang="tr-TR" sz="2000" dirty="0"/>
              <a:t> </a:t>
            </a:r>
            <a:r>
              <a:rPr lang="tr-TR" sz="2000" dirty="0" err="1"/>
              <a:t>x.strip</a:t>
            </a:r>
            <a:r>
              <a:rPr lang="tr-TR" sz="2000" dirty="0"/>
              <a:t>()]    </a:t>
            </a:r>
          </a:p>
          <a:p>
            <a:pPr marL="0" indent="0">
              <a:buNone/>
            </a:pPr>
            <a:r>
              <a:rPr lang="tr-TR" sz="2000" dirty="0" err="1"/>
              <a:t>statuses</a:t>
            </a:r>
            <a:r>
              <a:rPr lang="tr-TR" sz="2000" dirty="0"/>
              <a:t>=Counter(r['</a:t>
            </a:r>
            <a:r>
              <a:rPr lang="tr-TR" sz="2000" dirty="0" err="1"/>
              <a:t>status</a:t>
            </a:r>
            <a:r>
              <a:rPr lang="tr-TR" sz="2000" dirty="0"/>
              <a:t>'] </a:t>
            </a:r>
            <a:r>
              <a:rPr lang="tr-TR" sz="2000" dirty="0" err="1"/>
              <a:t>for</a:t>
            </a:r>
            <a:r>
              <a:rPr lang="tr-TR" sz="2000" dirty="0"/>
              <a:t> r in </a:t>
            </a:r>
            <a:r>
              <a:rPr lang="tr-TR" sz="2000" dirty="0" err="1"/>
              <a:t>records</a:t>
            </a:r>
            <a:r>
              <a:rPr lang="tr-TR" sz="2000" dirty="0"/>
              <a:t>)    </a:t>
            </a:r>
          </a:p>
          <a:p>
            <a:pPr marL="0" indent="0">
              <a:buNone/>
            </a:pPr>
            <a:r>
              <a:rPr lang="tr-TR" sz="2000" dirty="0" err="1"/>
              <a:t>failed_ips</a:t>
            </a:r>
            <a:r>
              <a:rPr lang="tr-TR" sz="2000" dirty="0"/>
              <a:t>=Counter(r['</a:t>
            </a:r>
            <a:r>
              <a:rPr lang="tr-TR" sz="2000" dirty="0" err="1"/>
              <a:t>src_ip</a:t>
            </a:r>
            <a:r>
              <a:rPr lang="tr-TR" sz="2000" dirty="0"/>
              <a:t>'] </a:t>
            </a:r>
            <a:r>
              <a:rPr lang="tr-TR" sz="2000" dirty="0" err="1"/>
              <a:t>for</a:t>
            </a:r>
            <a:r>
              <a:rPr lang="tr-TR" sz="2000" dirty="0"/>
              <a:t> r in </a:t>
            </a:r>
            <a:r>
              <a:rPr lang="tr-TR" sz="2000" dirty="0" err="1"/>
              <a:t>records</a:t>
            </a:r>
            <a:r>
              <a:rPr lang="tr-TR" sz="2000" dirty="0"/>
              <a:t> </a:t>
            </a:r>
            <a:r>
              <a:rPr lang="tr-TR" sz="2000" dirty="0" err="1"/>
              <a:t>if</a:t>
            </a:r>
            <a:r>
              <a:rPr lang="tr-TR" sz="2000" dirty="0"/>
              <a:t> r['</a:t>
            </a:r>
            <a:r>
              <a:rPr lang="tr-TR" sz="2000" dirty="0" err="1"/>
              <a:t>status</a:t>
            </a:r>
            <a:r>
              <a:rPr lang="tr-TR" sz="2000" dirty="0"/>
              <a:t>']=='FAILED')   </a:t>
            </a:r>
          </a:p>
          <a:p>
            <a:pPr marL="0" indent="0">
              <a:buNone/>
            </a:pPr>
            <a:r>
              <a:rPr lang="tr-TR" sz="2000" dirty="0" err="1"/>
              <a:t>print</a:t>
            </a:r>
            <a:r>
              <a:rPr lang="tr-TR" sz="2000" dirty="0"/>
              <a:t>('</a:t>
            </a:r>
            <a:r>
              <a:rPr lang="tr-TR" sz="2000" dirty="0" err="1"/>
              <a:t>Status</a:t>
            </a:r>
            <a:r>
              <a:rPr lang="tr-TR" sz="2000" dirty="0"/>
              <a:t> </a:t>
            </a:r>
            <a:r>
              <a:rPr lang="tr-TR" sz="2000" dirty="0" err="1"/>
              <a:t>counts</a:t>
            </a:r>
            <a:r>
              <a:rPr lang="tr-TR" sz="2000" dirty="0"/>
              <a:t>:',</a:t>
            </a:r>
            <a:r>
              <a:rPr lang="tr-TR" sz="2000" dirty="0" err="1"/>
              <a:t>dict</a:t>
            </a:r>
            <a:r>
              <a:rPr lang="tr-TR" sz="2000" dirty="0"/>
              <a:t>(</a:t>
            </a:r>
            <a:r>
              <a:rPr lang="tr-TR" sz="2000" dirty="0" err="1"/>
              <a:t>statuses</a:t>
            </a:r>
            <a:r>
              <a:rPr lang="tr-TR" sz="2000" dirty="0"/>
              <a:t>))    </a:t>
            </a:r>
          </a:p>
          <a:p>
            <a:pPr marL="0" indent="0">
              <a:buNone/>
            </a:pPr>
            <a:r>
              <a:rPr lang="tr-TR" sz="2000" dirty="0" err="1"/>
              <a:t>print</a:t>
            </a:r>
            <a:r>
              <a:rPr lang="tr-TR" sz="2000" dirty="0"/>
              <a:t>('Top </a:t>
            </a:r>
            <a:r>
              <a:rPr lang="tr-TR" sz="2000" dirty="0" err="1"/>
              <a:t>failed</a:t>
            </a:r>
            <a:r>
              <a:rPr lang="tr-TR" sz="2000" dirty="0"/>
              <a:t> IP:',</a:t>
            </a:r>
            <a:r>
              <a:rPr lang="tr-TR" sz="2000" dirty="0" err="1"/>
              <a:t>failed_ips.most_common</a:t>
            </a:r>
            <a:r>
              <a:rPr lang="tr-TR" sz="2000" dirty="0"/>
              <a:t>(1)[0])</a:t>
            </a:r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tr-TR" sz="2000" dirty="0" err="1"/>
              <a:t>if</a:t>
            </a:r>
            <a:r>
              <a:rPr lang="tr-TR" sz="2000" dirty="0"/>
              <a:t> __name__ == "__main__": main()</a:t>
            </a:r>
          </a:p>
        </p:txBody>
      </p:sp>
    </p:spTree>
    <p:extLst>
      <p:ext uri="{BB962C8B-B14F-4D97-AF65-F5344CB8AC3E}">
        <p14:creationId xmlns:p14="http://schemas.microsoft.com/office/powerpoint/2010/main" val="3736110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246B2B-7E65-A28E-4418-1F191866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 Dosyanın Yerini Bul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5FBF0D-7464-1958-115D-1B32547F7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pathlib</a:t>
            </a:r>
            <a:r>
              <a:rPr lang="en-US" dirty="0"/>
              <a:t> import Path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LOG = Path(__file__).parents[1] / "datasets" / "auth.log«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 err="1"/>
              <a:t>Path</a:t>
            </a:r>
            <a:r>
              <a:rPr lang="tr-TR" b="1" dirty="0"/>
              <a:t>(__file__) </a:t>
            </a:r>
            <a:r>
              <a:rPr lang="tr-TR" dirty="0">
                <a:sym typeface="Wingdings" panose="05000000000000000000" pitchFamily="2" charset="2"/>
              </a:rPr>
              <a:t> çalışan Python dosyasını temsil eder.</a:t>
            </a:r>
          </a:p>
          <a:p>
            <a:pPr marL="0" indent="0">
              <a:buNone/>
            </a:pPr>
            <a:r>
              <a:rPr lang="tr-TR" b="1" dirty="0" err="1"/>
              <a:t>parents</a:t>
            </a:r>
            <a:r>
              <a:rPr lang="tr-TR" b="1" dirty="0"/>
              <a:t>[1] 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dirty="0"/>
              <a:t>üst klasöre ulaşmamızı sağlar.</a:t>
            </a:r>
          </a:p>
          <a:p>
            <a:pPr marL="0" indent="0">
              <a:buNone/>
            </a:pPr>
            <a:r>
              <a:rPr lang="tr-TR" b="1" dirty="0"/>
              <a:t>/ "</a:t>
            </a:r>
            <a:r>
              <a:rPr lang="tr-TR" b="1" dirty="0" err="1"/>
              <a:t>datasets</a:t>
            </a:r>
            <a:r>
              <a:rPr lang="tr-TR" b="1" dirty="0"/>
              <a:t>" / "auth.log’’ </a:t>
            </a:r>
            <a:r>
              <a:rPr lang="tr-TR" dirty="0">
                <a:sym typeface="Wingdings" panose="05000000000000000000" pitchFamily="2" charset="2"/>
              </a:rPr>
              <a:t> ile dosya yolu oluşturulur.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2172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773990-B7B6-3DA9-1766-30ABED5D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Path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70344E-2B01-F3AC-9905-3347599CC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D:/ders/yazilim/datasets/auth.log  </a:t>
            </a:r>
            <a:r>
              <a:rPr lang="tr-TR" dirty="0">
                <a:sym typeface="Wingdings" panose="05000000000000000000" pitchFamily="2" charset="2"/>
              </a:rPr>
              <a:t> bu yol sadece bu bilgisayarda çalışır.</a:t>
            </a:r>
          </a:p>
          <a:p>
            <a:endParaRPr lang="tr-TR" dirty="0">
              <a:sym typeface="Wingdings" panose="05000000000000000000" pitchFamily="2" charset="2"/>
            </a:endParaRPr>
          </a:p>
          <a:p>
            <a:r>
              <a:rPr lang="tr-TR" dirty="0" err="1"/>
              <a:t>Path</a:t>
            </a:r>
            <a:r>
              <a:rPr lang="tr-TR" dirty="0"/>
              <a:t>(__file__).</a:t>
            </a:r>
            <a:r>
              <a:rPr lang="tr-TR" dirty="0" err="1"/>
              <a:t>parents</a:t>
            </a:r>
            <a:r>
              <a:rPr lang="tr-TR" dirty="0"/>
              <a:t>[1] / "</a:t>
            </a:r>
            <a:r>
              <a:rPr lang="tr-TR" dirty="0" err="1"/>
              <a:t>datasets</a:t>
            </a:r>
            <a:r>
              <a:rPr lang="tr-TR" dirty="0"/>
              <a:t>" / "auth.log" </a:t>
            </a:r>
            <a:r>
              <a:rPr lang="tr-TR" dirty="0">
                <a:sym typeface="Wingdings" panose="05000000000000000000" pitchFamily="2" charset="2"/>
              </a:rPr>
              <a:t> ile her yerde çalışır.</a:t>
            </a:r>
          </a:p>
          <a:p>
            <a:endParaRPr lang="tr-TR" dirty="0">
              <a:sym typeface="Wingdings" panose="05000000000000000000" pitchFamily="2" charset="2"/>
            </a:endParaRPr>
          </a:p>
          <a:p>
            <a:endParaRPr lang="tr-TR" dirty="0">
              <a:sym typeface="Wingdings" panose="05000000000000000000" pitchFamily="2" charset="2"/>
            </a:endParaRPr>
          </a:p>
          <a:p>
            <a:r>
              <a:rPr lang="tr-TR" b="1" dirty="0"/>
              <a:t>Yazılım mühendisliği prensibi:</a:t>
            </a:r>
          </a:p>
          <a:p>
            <a:pPr marL="0" indent="0">
              <a:buNone/>
            </a:pPr>
            <a:r>
              <a:rPr lang="tr-TR" b="1" dirty="0"/>
              <a:t>Sabit bilgisayar yollarına mümkün olduğunca bağımlı olma.</a:t>
            </a:r>
          </a:p>
          <a:p>
            <a:pPr marL="0" indent="0">
              <a:buNone/>
            </a:pP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7707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E67171-69BA-F1DA-2448-DAD25200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Dosyayı Okuma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93F61B-68D4-DA46-FA01-7765A65D2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text = </a:t>
            </a:r>
            <a:r>
              <a:rPr lang="en-US" dirty="0" err="1"/>
              <a:t>LOG.read_text</a:t>
            </a:r>
            <a:r>
              <a:rPr lang="en-US" dirty="0"/>
              <a:t>(encoding="utf-8")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print(text)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Run:</a:t>
            </a:r>
          </a:p>
          <a:p>
            <a:pPr marL="0" indent="0">
              <a:buNone/>
            </a:pPr>
            <a:r>
              <a:rPr lang="tr-TR" dirty="0" err="1"/>
              <a:t>python</a:t>
            </a:r>
            <a:r>
              <a:rPr lang="tr-TR" dirty="0"/>
              <a:t> student/week02_log_parser.py</a:t>
            </a:r>
          </a:p>
        </p:txBody>
      </p:sp>
    </p:spTree>
    <p:extLst>
      <p:ext uri="{BB962C8B-B14F-4D97-AF65-F5344CB8AC3E}">
        <p14:creationId xmlns:p14="http://schemas.microsoft.com/office/powerpoint/2010/main" val="213257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D38BD6-62AF-BCF1-76B2-ACF9CF88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Satırlara ayırma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CB9BAA-DB6D-A4E7-4BD4-B0FC35B0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82867" cy="4351338"/>
          </a:xfrm>
        </p:spPr>
        <p:txBody>
          <a:bodyPr>
            <a:normAutofit/>
          </a:bodyPr>
          <a:lstStyle/>
          <a:p>
            <a:r>
              <a:rPr lang="tr-TR" dirty="0"/>
              <a:t>Python artık dosyayı okuyabiliyor.</a:t>
            </a:r>
          </a:p>
          <a:p>
            <a:r>
              <a:rPr lang="tr-TR" dirty="0"/>
              <a:t>Ama henüz veriyi anlamıyor.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dirty="0"/>
              <a:t>text = </a:t>
            </a:r>
            <a:r>
              <a:rPr lang="en-US" dirty="0" err="1"/>
              <a:t>LOG.read_text</a:t>
            </a:r>
            <a:r>
              <a:rPr lang="en-US" dirty="0"/>
              <a:t>(encoding="utf-8")</a:t>
            </a:r>
          </a:p>
          <a:p>
            <a:pPr marL="0" indent="0">
              <a:buNone/>
            </a:pPr>
            <a:r>
              <a:rPr lang="en-US" dirty="0"/>
              <a:t>lines = </a:t>
            </a:r>
            <a:r>
              <a:rPr lang="en-US" dirty="0" err="1"/>
              <a:t>text.splitlines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print(lines[0])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 : </a:t>
            </a:r>
            <a:r>
              <a:rPr lang="tr-TR" sz="2300" dirty="0"/>
              <a:t>2026-09-21T09:00:00 </a:t>
            </a:r>
            <a:r>
              <a:rPr lang="tr-TR" sz="2300" dirty="0" err="1"/>
              <a:t>src_ip</a:t>
            </a:r>
            <a:r>
              <a:rPr lang="tr-TR" sz="2300" dirty="0"/>
              <a:t>=10.10.1.12 </a:t>
            </a:r>
            <a:r>
              <a:rPr lang="tr-TR" sz="2300" dirty="0" err="1"/>
              <a:t>user</a:t>
            </a:r>
            <a:r>
              <a:rPr lang="tr-TR" sz="2300" dirty="0"/>
              <a:t>=ali </a:t>
            </a:r>
            <a:r>
              <a:rPr lang="tr-TR" sz="2300" dirty="0" err="1"/>
              <a:t>event</a:t>
            </a:r>
            <a:r>
              <a:rPr lang="tr-TR" sz="2300" dirty="0"/>
              <a:t>=LOGIN </a:t>
            </a:r>
            <a:r>
              <a:rPr lang="tr-TR" sz="2300" dirty="0" err="1"/>
              <a:t>status</a:t>
            </a:r>
            <a:r>
              <a:rPr lang="tr-TR" sz="2300" dirty="0"/>
              <a:t>=FAILED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8039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506EB9-D652-A50A-4F01-0938980F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32E63A-9DA4-E560-60CC-B552BF5B2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</a:t>
            </a:r>
            <a:r>
              <a:rPr lang="tr-TR" dirty="0" err="1"/>
              <a:t>len</a:t>
            </a:r>
            <a:r>
              <a:rPr lang="tr-TR" dirty="0"/>
              <a:t>(</a:t>
            </a:r>
            <a:r>
              <a:rPr lang="tr-TR" dirty="0" err="1"/>
              <a:t>lines</a:t>
            </a:r>
            <a:r>
              <a:rPr lang="tr-TR" dirty="0"/>
              <a:t>))   </a:t>
            </a:r>
            <a:r>
              <a:rPr lang="tr-TR" dirty="0">
                <a:sym typeface="Wingdings" panose="05000000000000000000" pitchFamily="2" charset="2"/>
              </a:rPr>
              <a:t> komutunu çalıştırdığımızda;</a:t>
            </a:r>
          </a:p>
          <a:p>
            <a:pPr marL="0" indent="0">
              <a:buNone/>
            </a:pPr>
            <a:endParaRPr lang="tr-T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tr-TR" dirty="0">
                <a:sym typeface="Wingdings" panose="05000000000000000000" pitchFamily="2" charset="2"/>
              </a:rPr>
              <a:t>Veri setinde 60 olay olduğu için 60 görürüz.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4574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7EC7F7-FEE1-A32D-8880-2C2B51C8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2134" cy="1325563"/>
          </a:xfrm>
        </p:spPr>
        <p:txBody>
          <a:bodyPr/>
          <a:lstStyle/>
          <a:p>
            <a:r>
              <a:rPr lang="tr-TR" dirty="0"/>
              <a:t>İlk log satırını </a:t>
            </a:r>
            <a:r>
              <a:rPr lang="tr-TR" dirty="0" err="1"/>
              <a:t>parse</a:t>
            </a:r>
            <a:r>
              <a:rPr lang="tr-TR" dirty="0"/>
              <a:t> etme (Boşluklara göre metni parçalama)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6784D0-6807-39B1-5CA9-F87C4EE51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line = lines[0]</a:t>
            </a:r>
          </a:p>
          <a:p>
            <a:pPr marL="0" indent="0">
              <a:buNone/>
            </a:pPr>
            <a:r>
              <a:rPr lang="en-US" dirty="0"/>
              <a:t>items = </a:t>
            </a:r>
            <a:r>
              <a:rPr lang="en-US" dirty="0" err="1"/>
              <a:t>line.strip</a:t>
            </a:r>
            <a:r>
              <a:rPr lang="en-US" dirty="0"/>
              <a:t>().split()</a:t>
            </a:r>
          </a:p>
          <a:p>
            <a:pPr marL="0" indent="0">
              <a:buNone/>
            </a:pPr>
            <a:r>
              <a:rPr lang="en-US" dirty="0"/>
              <a:t>print(items)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</a:t>
            </a:r>
          </a:p>
          <a:p>
            <a:pPr marL="0" indent="0">
              <a:buNone/>
            </a:pPr>
            <a:r>
              <a:rPr lang="tr-TR" dirty="0"/>
              <a:t>[</a:t>
            </a:r>
          </a:p>
          <a:p>
            <a:pPr marL="0" indent="0">
              <a:buNone/>
            </a:pPr>
            <a:r>
              <a:rPr lang="tr-TR" dirty="0"/>
              <a:t>    '2026-09-21T09:00:00',</a:t>
            </a:r>
          </a:p>
          <a:p>
            <a:pPr marL="0" indent="0">
              <a:buNone/>
            </a:pPr>
            <a:r>
              <a:rPr lang="tr-TR" dirty="0"/>
              <a:t>    '</a:t>
            </a:r>
            <a:r>
              <a:rPr lang="tr-TR" dirty="0" err="1"/>
              <a:t>src_ip</a:t>
            </a:r>
            <a:r>
              <a:rPr lang="tr-TR" dirty="0"/>
              <a:t>=10.10.1.12',</a:t>
            </a:r>
          </a:p>
          <a:p>
            <a:pPr marL="0" indent="0">
              <a:buNone/>
            </a:pPr>
            <a:r>
              <a:rPr lang="tr-TR" dirty="0"/>
              <a:t>    '</a:t>
            </a:r>
            <a:r>
              <a:rPr lang="tr-TR" dirty="0" err="1"/>
              <a:t>user</a:t>
            </a:r>
            <a:r>
              <a:rPr lang="tr-TR" dirty="0"/>
              <a:t>=ali',</a:t>
            </a:r>
          </a:p>
          <a:p>
            <a:pPr marL="0" indent="0">
              <a:buNone/>
            </a:pPr>
            <a:r>
              <a:rPr lang="tr-TR" dirty="0"/>
              <a:t>    '</a:t>
            </a:r>
            <a:r>
              <a:rPr lang="tr-TR" dirty="0" err="1"/>
              <a:t>event</a:t>
            </a:r>
            <a:r>
              <a:rPr lang="tr-TR" dirty="0"/>
              <a:t>=LOGIN',</a:t>
            </a:r>
          </a:p>
          <a:p>
            <a:pPr marL="0" indent="0">
              <a:buNone/>
            </a:pPr>
            <a:r>
              <a:rPr lang="tr-TR" dirty="0"/>
              <a:t>    '</a:t>
            </a:r>
            <a:r>
              <a:rPr lang="tr-TR" dirty="0" err="1"/>
              <a:t>status</a:t>
            </a:r>
            <a:r>
              <a:rPr lang="tr-TR" dirty="0"/>
              <a:t>=FAILED'</a:t>
            </a:r>
          </a:p>
          <a:p>
            <a:pPr marL="0" indent="0">
              <a:buNone/>
            </a:pPr>
            <a:r>
              <a:rPr lang="tr-T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08583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2227C1-8A35-61C0-A90C-5380A7AD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strip</a:t>
            </a:r>
            <a:r>
              <a:rPr lang="tr-TR" dirty="0"/>
              <a:t>() ve </a:t>
            </a:r>
            <a:r>
              <a:rPr lang="tr-TR" dirty="0" err="1"/>
              <a:t>split</a:t>
            </a:r>
            <a:r>
              <a:rPr lang="tr-TR" dirty="0"/>
              <a:t>()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F8B8A7-C990-3D65-231D-5AF6F5ABE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8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/>
              <a:t>line.strip</a:t>
            </a:r>
            <a:r>
              <a:rPr lang="tr-TR" dirty="0"/>
              <a:t>()</a:t>
            </a:r>
          </a:p>
          <a:p>
            <a:r>
              <a:rPr lang="tr-TR" dirty="0"/>
              <a:t>Satırın başındaki ve sonundaki gereksiz boşlukları temizler.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err="1"/>
              <a:t>line.split</a:t>
            </a:r>
            <a:r>
              <a:rPr lang="tr-TR" dirty="0"/>
              <a:t>()</a:t>
            </a:r>
          </a:p>
          <a:p>
            <a:r>
              <a:rPr lang="tr-TR" dirty="0"/>
              <a:t>Metni boşluklardan parçalar.</a:t>
            </a:r>
          </a:p>
          <a:p>
            <a:endParaRPr lang="tr-TR" dirty="0"/>
          </a:p>
          <a:p>
            <a:r>
              <a:rPr lang="tr-TR" dirty="0" err="1"/>
              <a:t>Sample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/>
              <a:t>"ali </a:t>
            </a:r>
            <a:r>
              <a:rPr lang="tr-TR" dirty="0" err="1"/>
              <a:t>mehmet</a:t>
            </a:r>
            <a:r>
              <a:rPr lang="tr-TR" dirty="0"/>
              <a:t> </a:t>
            </a:r>
            <a:r>
              <a:rPr lang="tr-TR" dirty="0" err="1"/>
              <a:t>ayse</a:t>
            </a:r>
            <a:r>
              <a:rPr lang="tr-TR" dirty="0"/>
              <a:t>".</a:t>
            </a:r>
            <a:r>
              <a:rPr lang="tr-TR" dirty="0" err="1"/>
              <a:t>split</a:t>
            </a:r>
            <a:r>
              <a:rPr lang="tr-TR" dirty="0"/>
              <a:t>()</a:t>
            </a:r>
          </a:p>
          <a:p>
            <a:pPr marL="0" indent="0">
              <a:buNone/>
            </a:pPr>
            <a:r>
              <a:rPr lang="tr-TR" dirty="0"/>
              <a:t>["ali", "</a:t>
            </a:r>
            <a:r>
              <a:rPr lang="tr-TR" dirty="0" err="1"/>
              <a:t>mehmet</a:t>
            </a:r>
            <a:r>
              <a:rPr lang="tr-TR" dirty="0"/>
              <a:t>", "</a:t>
            </a:r>
            <a:r>
              <a:rPr lang="tr-TR" dirty="0" err="1"/>
              <a:t>ayse</a:t>
            </a:r>
            <a:r>
              <a:rPr lang="tr-TR" dirty="0"/>
              <a:t>"] olur.</a:t>
            </a:r>
          </a:p>
        </p:txBody>
      </p:sp>
    </p:spTree>
    <p:extLst>
      <p:ext uri="{BB962C8B-B14F-4D97-AF65-F5344CB8AC3E}">
        <p14:creationId xmlns:p14="http://schemas.microsoft.com/office/powerpoint/2010/main" val="433737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92B162-E1A5-2201-577B-A8D0EE24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Timestamp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25CE64-DC62-85A1-6E92-872F864FD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31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 err="1"/>
              <a:t>items</a:t>
            </a:r>
            <a:r>
              <a:rPr lang="tr-TR" dirty="0"/>
              <a:t>[0] değeri 2026-09-21T09:00:00 olsun.</a:t>
            </a:r>
          </a:p>
          <a:p>
            <a:endParaRPr lang="tr-TR" dirty="0"/>
          </a:p>
          <a:p>
            <a:r>
              <a:rPr lang="tr-TR" dirty="0"/>
              <a:t>Dictionary oluştur: 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data = {</a:t>
            </a:r>
          </a:p>
          <a:p>
            <a:pPr marL="0" indent="0">
              <a:buNone/>
            </a:pPr>
            <a:r>
              <a:rPr lang="tr-TR" dirty="0"/>
              <a:t>"</a:t>
            </a:r>
            <a:r>
              <a:rPr lang="tr-TR" dirty="0" err="1"/>
              <a:t>timestamp</a:t>
            </a:r>
            <a:r>
              <a:rPr lang="tr-TR" dirty="0"/>
              <a:t>": </a:t>
            </a:r>
            <a:r>
              <a:rPr lang="tr-TR" dirty="0" err="1"/>
              <a:t>items</a:t>
            </a:r>
            <a:r>
              <a:rPr lang="tr-TR" dirty="0"/>
              <a:t>[0]</a:t>
            </a:r>
          </a:p>
          <a:p>
            <a:pPr marL="0" indent="0">
              <a:buNone/>
            </a:pPr>
            <a:r>
              <a:rPr lang="tr-TR" dirty="0"/>
              <a:t>}</a:t>
            </a:r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(data) çıktısı </a:t>
            </a:r>
            <a:r>
              <a:rPr lang="tr-TR" dirty="0"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r>
              <a:rPr lang="tr-TR" dirty="0">
                <a:sym typeface="Wingdings" panose="05000000000000000000" pitchFamily="2" charset="2"/>
              </a:rPr>
              <a:t>{</a:t>
            </a:r>
          </a:p>
          <a:p>
            <a:pPr marL="0" indent="0">
              <a:buNone/>
            </a:pPr>
            <a:r>
              <a:rPr lang="tr-TR" dirty="0">
                <a:sym typeface="Wingdings" panose="05000000000000000000" pitchFamily="2" charset="2"/>
              </a:rPr>
              <a:t>    '</a:t>
            </a:r>
            <a:r>
              <a:rPr lang="tr-TR" dirty="0" err="1">
                <a:sym typeface="Wingdings" panose="05000000000000000000" pitchFamily="2" charset="2"/>
              </a:rPr>
              <a:t>timestamp</a:t>
            </a:r>
            <a:r>
              <a:rPr lang="tr-TR" dirty="0">
                <a:sym typeface="Wingdings" panose="05000000000000000000" pitchFamily="2" charset="2"/>
              </a:rPr>
              <a:t>': '2026-09-21T09:00:00'</a:t>
            </a:r>
          </a:p>
          <a:p>
            <a:pPr marL="0" indent="0">
              <a:buNone/>
            </a:pPr>
            <a:r>
              <a:rPr lang="tr-TR" dirty="0">
                <a:sym typeface="Wingdings" panose="05000000000000000000" pitchFamily="2" charset="2"/>
              </a:rPr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2483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85D5087-D9ED-6666-6DB6-C50B2794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Why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Dictionary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89287D-682C-9188-D3B2-7BBD69E0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820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Liste kullansaydık: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[1]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[2]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[3]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Dictionary: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["</a:t>
            </a:r>
            <a:r>
              <a:rPr lang="tr-TR" dirty="0" err="1"/>
              <a:t>src_ip</a:t>
            </a:r>
            <a:r>
              <a:rPr lang="tr-TR" dirty="0"/>
              <a:t>"]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["</a:t>
            </a:r>
            <a:r>
              <a:rPr lang="tr-TR" dirty="0" err="1"/>
              <a:t>user</a:t>
            </a:r>
            <a:r>
              <a:rPr lang="tr-TR" dirty="0"/>
              <a:t>"]</a:t>
            </a:r>
          </a:p>
          <a:p>
            <a:pPr marL="0" indent="0">
              <a:buNone/>
            </a:pPr>
            <a:r>
              <a:rPr lang="tr-TR" dirty="0" err="1"/>
              <a:t>event</a:t>
            </a:r>
            <a:r>
              <a:rPr lang="tr-TR" dirty="0"/>
              <a:t>["</a:t>
            </a:r>
            <a:r>
              <a:rPr lang="tr-TR" dirty="0" err="1"/>
              <a:t>status</a:t>
            </a:r>
            <a:r>
              <a:rPr lang="tr-TR" dirty="0"/>
              <a:t>"]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A51243-EDDA-3B89-278E-42340F074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800" y="2552830"/>
            <a:ext cx="3436257" cy="175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okunabilir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anlaşılır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az hata eğilimli </a:t>
            </a:r>
          </a:p>
        </p:txBody>
      </p:sp>
    </p:spTree>
    <p:extLst>
      <p:ext uri="{BB962C8B-B14F-4D97-AF65-F5344CB8AC3E}">
        <p14:creationId xmlns:p14="http://schemas.microsoft.com/office/powerpoint/2010/main" val="1513888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0CABF9-402F-4E6A-A926-9ED0242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key</a:t>
            </a:r>
            <a:r>
              <a:rPr lang="tr-TR" dirty="0"/>
              <a:t>=</a:t>
            </a:r>
            <a:r>
              <a:rPr lang="tr-TR" dirty="0" err="1"/>
              <a:t>value</a:t>
            </a:r>
            <a:r>
              <a:rPr lang="tr-TR" dirty="0"/>
              <a:t> Alanlarını Parçala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3EBB36-865F-B483-0830-44347485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/>
              <a:t>Sample</a:t>
            </a:r>
            <a:r>
              <a:rPr lang="tr-TR" dirty="0"/>
              <a:t>: </a:t>
            </a:r>
            <a:r>
              <a:rPr lang="tr-TR" b="1" dirty="0" err="1"/>
              <a:t>src_ip</a:t>
            </a:r>
            <a:r>
              <a:rPr lang="tr-TR" b="1" dirty="0"/>
              <a:t>=10.10.1.12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key, value = "</a:t>
            </a:r>
            <a:r>
              <a:rPr lang="en-US" dirty="0" err="1"/>
              <a:t>src_ip</a:t>
            </a:r>
            <a:r>
              <a:rPr lang="en-US" dirty="0"/>
              <a:t>=10.10.1.12".split("=")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Sonuç: </a:t>
            </a:r>
          </a:p>
          <a:p>
            <a:pPr marL="0" indent="0">
              <a:buNone/>
            </a:pPr>
            <a:r>
              <a:rPr lang="en-US" dirty="0"/>
              <a:t>key   → </a:t>
            </a:r>
            <a:r>
              <a:rPr lang="en-US" dirty="0" err="1"/>
              <a:t>src_ip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value → 10.10.1.12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data[</a:t>
            </a:r>
            <a:r>
              <a:rPr lang="tr-TR" dirty="0" err="1"/>
              <a:t>key</a:t>
            </a:r>
            <a:r>
              <a:rPr lang="tr-TR" dirty="0"/>
              <a:t>] = </a:t>
            </a:r>
            <a:r>
              <a:rPr lang="tr-TR" dirty="0" err="1"/>
              <a:t>value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3175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D24870-3FC7-93E8-50A3-E9D1174E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</a:t>
            </a:r>
            <a:r>
              <a:rPr lang="tr-TR" dirty="0" err="1"/>
              <a:t>split</a:t>
            </a:r>
            <a:r>
              <a:rPr lang="tr-TR" dirty="0"/>
              <a:t>("=", 1)?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1619AD-61BC-3911-5E27-54BDB09B1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key, value = </a:t>
            </a:r>
            <a:r>
              <a:rPr lang="en-US" dirty="0" err="1"/>
              <a:t>item.split</a:t>
            </a:r>
            <a:r>
              <a:rPr lang="en-US" dirty="0"/>
              <a:t>("=", 1)</a:t>
            </a:r>
            <a:endParaRPr lang="tr-TR" dirty="0"/>
          </a:p>
          <a:p>
            <a:endParaRPr lang="tr-TR" dirty="0"/>
          </a:p>
          <a:p>
            <a:r>
              <a:rPr lang="tr-TR" dirty="0"/>
              <a:t>1 en fazla </a:t>
            </a:r>
            <a:r>
              <a:rPr lang="tr-TR" b="1" dirty="0"/>
              <a:t>bir kez böl</a:t>
            </a:r>
            <a:r>
              <a:rPr lang="tr-TR" dirty="0"/>
              <a:t> anlamına gelir</a:t>
            </a:r>
          </a:p>
        </p:txBody>
      </p:sp>
    </p:spTree>
    <p:extLst>
      <p:ext uri="{BB962C8B-B14F-4D97-AF65-F5344CB8AC3E}">
        <p14:creationId xmlns:p14="http://schemas.microsoft.com/office/powerpoint/2010/main" val="335818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F6BD8D-0479-8EAE-A0AF-F05882BF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Döngü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8BE119-A309-84A2-0162-81BD41F4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3" y="1825625"/>
            <a:ext cx="4639733" cy="4871508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İlk alan </a:t>
            </a:r>
            <a:r>
              <a:rPr lang="tr-TR" dirty="0" err="1"/>
              <a:t>timestamp</a:t>
            </a:r>
            <a:r>
              <a:rPr lang="tr-TR" dirty="0"/>
              <a:t>.</a:t>
            </a:r>
          </a:p>
          <a:p>
            <a:r>
              <a:rPr lang="tr-TR" dirty="0"/>
              <a:t>Diğer alanlar ise </a:t>
            </a:r>
            <a:r>
              <a:rPr lang="tr-TR" dirty="0" err="1"/>
              <a:t>key</a:t>
            </a:r>
            <a:r>
              <a:rPr lang="tr-TR" dirty="0"/>
              <a:t>=</a:t>
            </a:r>
            <a:r>
              <a:rPr lang="tr-TR" dirty="0" err="1"/>
              <a:t>value</a:t>
            </a:r>
            <a:r>
              <a:rPr lang="tr-TR" dirty="0"/>
              <a:t>.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dirty="0"/>
              <a:t>items = </a:t>
            </a:r>
            <a:r>
              <a:rPr lang="en-US" dirty="0" err="1"/>
              <a:t>line.strip</a:t>
            </a:r>
            <a:r>
              <a:rPr lang="en-US" dirty="0"/>
              <a:t>().split()</a:t>
            </a:r>
          </a:p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"timestamp": items[0]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item in items[1:]:</a:t>
            </a:r>
          </a:p>
          <a:p>
            <a:pPr marL="0" indent="0">
              <a:buNone/>
            </a:pPr>
            <a:r>
              <a:rPr lang="en-US" dirty="0"/>
              <a:t>    key, value = </a:t>
            </a:r>
            <a:r>
              <a:rPr lang="en-US" dirty="0" err="1"/>
              <a:t>item.split</a:t>
            </a:r>
            <a:r>
              <a:rPr lang="en-US" dirty="0"/>
              <a:t>("=", 1)</a:t>
            </a:r>
          </a:p>
          <a:p>
            <a:pPr marL="0" indent="0">
              <a:buNone/>
            </a:pPr>
            <a:r>
              <a:rPr lang="en-US" dirty="0"/>
              <a:t>    data[key] = value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(data)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98AE8DB-53B9-8E87-20F5-336529A9E33E}"/>
              </a:ext>
            </a:extLst>
          </p:cNvPr>
          <p:cNvSpPr txBox="1"/>
          <p:nvPr/>
        </p:nvSpPr>
        <p:spPr>
          <a:xfrm>
            <a:off x="6256867" y="2015405"/>
            <a:ext cx="58335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500" dirty="0"/>
              <a:t>Çıktı:</a:t>
            </a:r>
          </a:p>
          <a:p>
            <a:r>
              <a:rPr lang="tr-TR" sz="2500" dirty="0"/>
              <a:t>{</a:t>
            </a:r>
          </a:p>
          <a:p>
            <a:r>
              <a:rPr lang="tr-TR" sz="2500" dirty="0"/>
              <a:t>    '</a:t>
            </a:r>
            <a:r>
              <a:rPr lang="tr-TR" sz="2500" dirty="0" err="1"/>
              <a:t>timestamp</a:t>
            </a:r>
            <a:r>
              <a:rPr lang="tr-TR" sz="2500" dirty="0"/>
              <a:t>': '2026-09-21T09:00:00',</a:t>
            </a:r>
          </a:p>
          <a:p>
            <a:r>
              <a:rPr lang="tr-TR" sz="2500" dirty="0"/>
              <a:t>    '</a:t>
            </a:r>
            <a:r>
              <a:rPr lang="tr-TR" sz="2500" dirty="0" err="1"/>
              <a:t>src_ip</a:t>
            </a:r>
            <a:r>
              <a:rPr lang="tr-TR" sz="2500" dirty="0"/>
              <a:t>': '10.10.1.12',</a:t>
            </a:r>
          </a:p>
          <a:p>
            <a:r>
              <a:rPr lang="tr-TR" sz="2500" dirty="0"/>
              <a:t>    '</a:t>
            </a:r>
            <a:r>
              <a:rPr lang="tr-TR" sz="2500" dirty="0" err="1"/>
              <a:t>user</a:t>
            </a:r>
            <a:r>
              <a:rPr lang="tr-TR" sz="2500" dirty="0"/>
              <a:t>': 'ali',</a:t>
            </a:r>
          </a:p>
          <a:p>
            <a:r>
              <a:rPr lang="tr-TR" sz="2500" dirty="0"/>
              <a:t>    '</a:t>
            </a:r>
            <a:r>
              <a:rPr lang="tr-TR" sz="2500" dirty="0" err="1"/>
              <a:t>event</a:t>
            </a:r>
            <a:r>
              <a:rPr lang="tr-TR" sz="2500" dirty="0"/>
              <a:t>': 'LOGIN',</a:t>
            </a:r>
          </a:p>
          <a:p>
            <a:r>
              <a:rPr lang="tr-TR" sz="2500" dirty="0"/>
              <a:t>    '</a:t>
            </a:r>
            <a:r>
              <a:rPr lang="tr-TR" sz="2500" dirty="0" err="1"/>
              <a:t>status</a:t>
            </a:r>
            <a:r>
              <a:rPr lang="tr-TR" sz="2500" dirty="0"/>
              <a:t>': 'FAILED’</a:t>
            </a:r>
          </a:p>
          <a:p>
            <a:r>
              <a:rPr lang="tr-TR" sz="2500" dirty="0"/>
              <a:t>}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1AE661A-CD72-C30B-0F8E-474AE5C6F7D7}"/>
              </a:ext>
            </a:extLst>
          </p:cNvPr>
          <p:cNvSpPr txBox="1"/>
          <p:nvPr/>
        </p:nvSpPr>
        <p:spPr>
          <a:xfrm>
            <a:off x="8161866" y="5894941"/>
            <a:ext cx="2854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/>
              <a:t>İlk </a:t>
            </a:r>
            <a:r>
              <a:rPr lang="tr-TR" sz="1800" dirty="0" err="1"/>
              <a:t>parser</a:t>
            </a:r>
            <a:endParaRPr lang="tr-TR" sz="1800" dirty="0"/>
          </a:p>
        </p:txBody>
      </p:sp>
      <p:sp>
        <p:nvSpPr>
          <p:cNvPr id="10" name="Ok: Aşağı 9">
            <a:extLst>
              <a:ext uri="{FF2B5EF4-FFF2-40B4-BE49-F238E27FC236}">
                <a16:creationId xmlns:a16="http://schemas.microsoft.com/office/drawing/2014/main" id="{D1D8C9D2-3B49-B2D3-AEC3-F592EC71FD28}"/>
              </a:ext>
            </a:extLst>
          </p:cNvPr>
          <p:cNvSpPr/>
          <p:nvPr/>
        </p:nvSpPr>
        <p:spPr>
          <a:xfrm>
            <a:off x="8407400" y="5054600"/>
            <a:ext cx="499533" cy="77046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5656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405D17-F714-AAEE-A9C8-7ED6D8F6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Fonksiyon Haline Getirme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2AF46C-1CCE-2F91-C27E-CBE798DAA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18000" cy="4351338"/>
          </a:xfrm>
        </p:spPr>
        <p:txBody>
          <a:bodyPr>
            <a:normAutofit fontScale="62500" lnSpcReduction="20000"/>
          </a:bodyPr>
          <a:lstStyle/>
          <a:p>
            <a:r>
              <a:rPr lang="tr-TR" b="1" u="sng" dirty="0"/>
              <a:t>Aynı işlemi 60 kere yazmamak için: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parse_line</a:t>
            </a:r>
            <a:r>
              <a:rPr lang="en-US" dirty="0"/>
              <a:t>(line: str) -&gt; </a:t>
            </a:r>
            <a:r>
              <a:rPr lang="en-US" dirty="0" err="1"/>
              <a:t>dict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items = </a:t>
            </a:r>
            <a:r>
              <a:rPr lang="en-US" dirty="0" err="1"/>
              <a:t>line.strip</a:t>
            </a:r>
            <a:r>
              <a:rPr lang="en-US" dirty="0"/>
              <a:t>().split()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data = {</a:t>
            </a:r>
          </a:p>
          <a:p>
            <a:pPr marL="0" indent="0">
              <a:buNone/>
            </a:pPr>
            <a:r>
              <a:rPr lang="en-US" dirty="0"/>
              <a:t>        "timestamp": items[0]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for item in items[1:]:</a:t>
            </a:r>
          </a:p>
          <a:p>
            <a:pPr marL="0" indent="0">
              <a:buNone/>
            </a:pPr>
            <a:r>
              <a:rPr lang="en-US" dirty="0"/>
              <a:t>        key, value = </a:t>
            </a:r>
            <a:r>
              <a:rPr lang="en-US" dirty="0" err="1"/>
              <a:t>item.split</a:t>
            </a:r>
            <a:r>
              <a:rPr lang="en-US" dirty="0"/>
              <a:t>("=", 1)</a:t>
            </a:r>
          </a:p>
          <a:p>
            <a:pPr marL="0" indent="0">
              <a:buNone/>
            </a:pPr>
            <a:r>
              <a:rPr lang="en-US" dirty="0"/>
              <a:t>        data[key] =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data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0974516-E318-83AD-E110-AFC749D6690D}"/>
              </a:ext>
            </a:extLst>
          </p:cNvPr>
          <p:cNvSpPr txBox="1"/>
          <p:nvPr/>
        </p:nvSpPr>
        <p:spPr>
          <a:xfrm>
            <a:off x="6587066" y="2967335"/>
            <a:ext cx="495300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500" dirty="0" err="1"/>
              <a:t>event</a:t>
            </a:r>
            <a:r>
              <a:rPr lang="tr-TR" sz="2500" dirty="0"/>
              <a:t> = </a:t>
            </a:r>
            <a:r>
              <a:rPr lang="tr-TR" sz="2500" dirty="0" err="1"/>
              <a:t>parse_line</a:t>
            </a:r>
            <a:r>
              <a:rPr lang="tr-TR" sz="2500" dirty="0"/>
              <a:t>(</a:t>
            </a:r>
            <a:r>
              <a:rPr lang="tr-TR" sz="2500" dirty="0" err="1"/>
              <a:t>lines</a:t>
            </a:r>
            <a:r>
              <a:rPr lang="tr-TR" sz="2500" dirty="0"/>
              <a:t>[0])</a:t>
            </a:r>
          </a:p>
          <a:p>
            <a:endParaRPr lang="tr-TR" sz="2500" dirty="0"/>
          </a:p>
          <a:p>
            <a:r>
              <a:rPr lang="tr-TR" sz="2500" dirty="0" err="1"/>
              <a:t>print</a:t>
            </a:r>
            <a:r>
              <a:rPr lang="tr-TR" sz="2500" dirty="0"/>
              <a:t>(</a:t>
            </a:r>
            <a:r>
              <a:rPr lang="tr-TR" sz="2500" dirty="0" err="1"/>
              <a:t>event</a:t>
            </a:r>
            <a:r>
              <a:rPr lang="tr-TR" sz="2500" dirty="0"/>
              <a:t>)</a:t>
            </a:r>
          </a:p>
        </p:txBody>
      </p:sp>
      <p:sp>
        <p:nvSpPr>
          <p:cNvPr id="6" name="Sağ Ayraç 5">
            <a:extLst>
              <a:ext uri="{FF2B5EF4-FFF2-40B4-BE49-F238E27FC236}">
                <a16:creationId xmlns:a16="http://schemas.microsoft.com/office/drawing/2014/main" id="{29ADC250-7E56-6B7B-0029-23742E3F859A}"/>
              </a:ext>
            </a:extLst>
          </p:cNvPr>
          <p:cNvSpPr/>
          <p:nvPr/>
        </p:nvSpPr>
        <p:spPr>
          <a:xfrm>
            <a:off x="4639733" y="2336800"/>
            <a:ext cx="1117600" cy="37592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0723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7A82BD-939A-DFC2-0135-F63136EA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Bütün Logları </a:t>
            </a:r>
            <a:r>
              <a:rPr lang="tr-TR" dirty="0" err="1"/>
              <a:t>Parse</a:t>
            </a:r>
            <a:r>
              <a:rPr lang="tr-TR" dirty="0"/>
              <a:t> Et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78138EE-4D75-46C1-8E8C-3AF869DFC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4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records = []</a:t>
            </a:r>
          </a:p>
          <a:p>
            <a:pPr marL="0" indent="0">
              <a:buNone/>
            </a:pPr>
            <a:r>
              <a:rPr lang="en-US" dirty="0"/>
              <a:t>for line in </a:t>
            </a:r>
            <a:r>
              <a:rPr lang="en-US" dirty="0" err="1"/>
              <a:t>LOG.read_text</a:t>
            </a:r>
            <a:r>
              <a:rPr lang="en-US" dirty="0"/>
              <a:t>(encoding="utf-8").</a:t>
            </a:r>
            <a:r>
              <a:rPr lang="en-US" dirty="0" err="1"/>
              <a:t>splitlines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line.strip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event = </a:t>
            </a:r>
            <a:r>
              <a:rPr lang="en-US" dirty="0" err="1"/>
              <a:t>parse_line</a:t>
            </a:r>
            <a:r>
              <a:rPr lang="en-US" dirty="0"/>
              <a:t>(line)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records.append</a:t>
            </a:r>
            <a:r>
              <a:rPr lang="en-US" dirty="0"/>
              <a:t>(event)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</a:t>
            </a:r>
            <a:r>
              <a:rPr lang="tr-TR" dirty="0" err="1"/>
              <a:t>len</a:t>
            </a:r>
            <a:r>
              <a:rPr lang="tr-TR" dirty="0"/>
              <a:t>(</a:t>
            </a:r>
            <a:r>
              <a:rPr lang="tr-TR" dirty="0" err="1"/>
              <a:t>records</a:t>
            </a:r>
            <a:r>
              <a:rPr lang="tr-TR" dirty="0"/>
              <a:t>))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 60</a:t>
            </a:r>
          </a:p>
        </p:txBody>
      </p:sp>
    </p:spTree>
    <p:extLst>
      <p:ext uri="{BB962C8B-B14F-4D97-AF65-F5344CB8AC3E}">
        <p14:creationId xmlns:p14="http://schemas.microsoft.com/office/powerpoint/2010/main" val="2742525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24E225-2FEC-F2CC-758A-EBBF3B3F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3 </a:t>
            </a:r>
            <a:r>
              <a:rPr lang="tr-TR" dirty="0" err="1"/>
              <a:t>event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996F0B-79C5-7550-CC3D-C19F1ECE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7467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event in records[:3]:</a:t>
            </a:r>
          </a:p>
          <a:p>
            <a:pPr marL="0" indent="0">
              <a:buNone/>
            </a:pPr>
            <a:r>
              <a:rPr lang="en-US" dirty="0"/>
              <a:t>   print(event)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</a:t>
            </a:r>
          </a:p>
          <a:p>
            <a:pPr marL="0" indent="0">
              <a:buNone/>
            </a:pPr>
            <a:r>
              <a:rPr lang="tr-TR" dirty="0"/>
              <a:t>{'</a:t>
            </a:r>
            <a:r>
              <a:rPr lang="tr-TR" dirty="0" err="1"/>
              <a:t>timestamp</a:t>
            </a:r>
            <a:r>
              <a:rPr lang="tr-TR" dirty="0"/>
              <a:t>': '2026-09-21T09:00:00',</a:t>
            </a:r>
          </a:p>
          <a:p>
            <a:pPr marL="0" indent="0">
              <a:buNone/>
            </a:pPr>
            <a:r>
              <a:rPr lang="tr-TR" dirty="0"/>
              <a:t> '</a:t>
            </a:r>
            <a:r>
              <a:rPr lang="tr-TR" dirty="0" err="1"/>
              <a:t>src_ip</a:t>
            </a:r>
            <a:r>
              <a:rPr lang="tr-TR" dirty="0"/>
              <a:t>': '10.10.1.12',</a:t>
            </a:r>
          </a:p>
          <a:p>
            <a:pPr marL="0" indent="0">
              <a:buNone/>
            </a:pPr>
            <a:r>
              <a:rPr lang="tr-TR" dirty="0"/>
              <a:t> '</a:t>
            </a:r>
            <a:r>
              <a:rPr lang="tr-TR" dirty="0" err="1"/>
              <a:t>user</a:t>
            </a:r>
            <a:r>
              <a:rPr lang="tr-TR" dirty="0"/>
              <a:t>': 'ali',</a:t>
            </a:r>
          </a:p>
          <a:p>
            <a:pPr marL="0" indent="0">
              <a:buNone/>
            </a:pPr>
            <a:r>
              <a:rPr lang="tr-TR" dirty="0"/>
              <a:t> '</a:t>
            </a:r>
            <a:r>
              <a:rPr lang="tr-TR" dirty="0" err="1"/>
              <a:t>event</a:t>
            </a:r>
            <a:r>
              <a:rPr lang="tr-TR" dirty="0"/>
              <a:t>': 'LOGIN',</a:t>
            </a:r>
          </a:p>
          <a:p>
            <a:pPr marL="0" indent="0">
              <a:buNone/>
            </a:pPr>
            <a:r>
              <a:rPr lang="tr-TR" dirty="0"/>
              <a:t> '</a:t>
            </a:r>
            <a:r>
              <a:rPr lang="tr-TR" dirty="0" err="1"/>
              <a:t>status</a:t>
            </a:r>
            <a:r>
              <a:rPr lang="tr-TR" dirty="0"/>
              <a:t>': 'FAILED’}</a:t>
            </a:r>
          </a:p>
        </p:txBody>
      </p:sp>
      <p:sp>
        <p:nvSpPr>
          <p:cNvPr id="4" name="Sağ Ayraç 3">
            <a:extLst>
              <a:ext uri="{FF2B5EF4-FFF2-40B4-BE49-F238E27FC236}">
                <a16:creationId xmlns:a16="http://schemas.microsoft.com/office/drawing/2014/main" id="{0017842F-0623-A18C-743A-D99AF31A807B}"/>
              </a:ext>
            </a:extLst>
          </p:cNvPr>
          <p:cNvSpPr/>
          <p:nvPr/>
        </p:nvSpPr>
        <p:spPr>
          <a:xfrm>
            <a:off x="6900333" y="1363133"/>
            <a:ext cx="1244600" cy="51297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4A0B8E5-0E3C-6D1F-16D6-7A15F019B94A}"/>
              </a:ext>
            </a:extLst>
          </p:cNvPr>
          <p:cNvSpPr txBox="1"/>
          <p:nvPr/>
        </p:nvSpPr>
        <p:spPr>
          <a:xfrm>
            <a:off x="8143240" y="3657600"/>
            <a:ext cx="404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ym typeface="Wingdings" panose="05000000000000000000" pitchFamily="2" charset="2"/>
              </a:rPr>
              <a:t>Ham veri değil artık işlenebilir data var.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1578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A07A1E-27CB-3024-EF4E-DEC718D7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Kaç</a:t>
            </a:r>
            <a:r>
              <a:rPr lang="en-US" dirty="0"/>
              <a:t> SUCCESS, </a:t>
            </a:r>
            <a:r>
              <a:rPr lang="en-US" dirty="0" err="1"/>
              <a:t>kaç</a:t>
            </a:r>
            <a:r>
              <a:rPr lang="en-US" dirty="0"/>
              <a:t> FAILED var?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A957F4-DE2E-2C7C-892A-15B0E71C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3108"/>
          </a:xfrm>
        </p:spPr>
        <p:txBody>
          <a:bodyPr/>
          <a:lstStyle/>
          <a:p>
            <a:r>
              <a:rPr lang="tr-TR" dirty="0"/>
              <a:t>Python : Counter sınıfı kullanılacak. Önce içeri </a:t>
            </a:r>
            <a:r>
              <a:rPr lang="tr-TR" dirty="0" err="1"/>
              <a:t>import</a:t>
            </a:r>
            <a:r>
              <a:rPr lang="tr-TR" dirty="0"/>
              <a:t> edilir.</a:t>
            </a:r>
          </a:p>
          <a:p>
            <a:pPr marL="0" indent="0">
              <a:buNone/>
            </a:pP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collections</a:t>
            </a:r>
            <a:r>
              <a:rPr lang="tr-TR" dirty="0"/>
              <a:t> </a:t>
            </a:r>
            <a:r>
              <a:rPr lang="tr-TR" dirty="0" err="1"/>
              <a:t>import</a:t>
            </a:r>
            <a:r>
              <a:rPr lang="tr-TR" dirty="0"/>
              <a:t> Counter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98A0777-D700-879F-53C3-9608DA84CA22}"/>
              </a:ext>
            </a:extLst>
          </p:cNvPr>
          <p:cNvSpPr txBox="1"/>
          <p:nvPr/>
        </p:nvSpPr>
        <p:spPr>
          <a:xfrm>
            <a:off x="474134" y="3627104"/>
            <a:ext cx="29294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Örneğin: </a:t>
            </a:r>
          </a:p>
          <a:p>
            <a:endParaRPr lang="tr-TR" dirty="0"/>
          </a:p>
          <a:p>
            <a:r>
              <a:rPr lang="tr-TR" dirty="0" err="1"/>
              <a:t>values</a:t>
            </a:r>
            <a:r>
              <a:rPr lang="tr-TR" dirty="0"/>
              <a:t> = [</a:t>
            </a:r>
          </a:p>
          <a:p>
            <a:r>
              <a:rPr lang="tr-TR" dirty="0"/>
              <a:t>    "FAILED",</a:t>
            </a:r>
          </a:p>
          <a:p>
            <a:r>
              <a:rPr lang="tr-TR" dirty="0"/>
              <a:t>    "SUCCESS",</a:t>
            </a:r>
          </a:p>
          <a:p>
            <a:r>
              <a:rPr lang="tr-TR" dirty="0"/>
              <a:t>    "FAILED",</a:t>
            </a:r>
          </a:p>
          <a:p>
            <a:r>
              <a:rPr lang="tr-TR" dirty="0"/>
              <a:t>    "FAILED"</a:t>
            </a:r>
          </a:p>
          <a:p>
            <a:r>
              <a:rPr lang="tr-TR" dirty="0"/>
              <a:t>]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81517D6-A445-0EF2-B235-FDDE14E538E0}"/>
              </a:ext>
            </a:extLst>
          </p:cNvPr>
          <p:cNvSpPr txBox="1"/>
          <p:nvPr/>
        </p:nvSpPr>
        <p:spPr>
          <a:xfrm>
            <a:off x="2937934" y="4666734"/>
            <a:ext cx="2065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Counter(</a:t>
            </a:r>
            <a:r>
              <a:rPr lang="tr-TR" dirty="0" err="1"/>
              <a:t>values</a:t>
            </a:r>
            <a:r>
              <a:rPr lang="tr-TR" dirty="0"/>
              <a:t>)</a:t>
            </a:r>
          </a:p>
        </p:txBody>
      </p:sp>
      <p:sp>
        <p:nvSpPr>
          <p:cNvPr id="10" name="Sağ Ayraç 9">
            <a:extLst>
              <a:ext uri="{FF2B5EF4-FFF2-40B4-BE49-F238E27FC236}">
                <a16:creationId xmlns:a16="http://schemas.microsoft.com/office/drawing/2014/main" id="{A5FB6685-50A3-545D-E473-E7C3D4E41E10}"/>
              </a:ext>
            </a:extLst>
          </p:cNvPr>
          <p:cNvSpPr/>
          <p:nvPr/>
        </p:nvSpPr>
        <p:spPr>
          <a:xfrm>
            <a:off x="1862667" y="3429000"/>
            <a:ext cx="999066" cy="28448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76D656A-A60D-2772-255D-950586E64483}"/>
              </a:ext>
            </a:extLst>
          </p:cNvPr>
          <p:cNvSpPr txBox="1"/>
          <p:nvPr/>
        </p:nvSpPr>
        <p:spPr>
          <a:xfrm>
            <a:off x="6544734" y="3980303"/>
            <a:ext cx="307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{</a:t>
            </a:r>
          </a:p>
          <a:p>
            <a:r>
              <a:rPr lang="tr-TR" dirty="0"/>
              <a:t>    "FAILED": 3,</a:t>
            </a:r>
          </a:p>
          <a:p>
            <a:r>
              <a:rPr lang="tr-TR" dirty="0"/>
              <a:t>    "SUCCESS": 1</a:t>
            </a:r>
          </a:p>
          <a:p>
            <a:r>
              <a:rPr lang="tr-TR" dirty="0"/>
              <a:t>}</a:t>
            </a:r>
          </a:p>
        </p:txBody>
      </p:sp>
      <p:sp>
        <p:nvSpPr>
          <p:cNvPr id="13" name="Sağ Ayraç 12">
            <a:extLst>
              <a:ext uri="{FF2B5EF4-FFF2-40B4-BE49-F238E27FC236}">
                <a16:creationId xmlns:a16="http://schemas.microsoft.com/office/drawing/2014/main" id="{2113A5F3-6FD4-B7C1-1A11-B0071212EAD3}"/>
              </a:ext>
            </a:extLst>
          </p:cNvPr>
          <p:cNvSpPr/>
          <p:nvPr/>
        </p:nvSpPr>
        <p:spPr>
          <a:xfrm>
            <a:off x="4944533" y="3530600"/>
            <a:ext cx="1295400" cy="2404828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3138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2167F3-3138-A0F6-BAEA-1BEC7861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setine göre </a:t>
            </a:r>
            <a:r>
              <a:rPr lang="tr-TR" dirty="0" err="1"/>
              <a:t>counter</a:t>
            </a:r>
            <a:r>
              <a:rPr lang="tr-TR" dirty="0"/>
              <a:t> ile sayım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2853C3-04BF-AF01-5ED1-6E7A0CA57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7773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statuses = Counter(</a:t>
            </a:r>
          </a:p>
          <a:p>
            <a:pPr marL="0" indent="0">
              <a:buNone/>
            </a:pPr>
            <a:r>
              <a:rPr lang="en-US" dirty="0"/>
              <a:t>   record["status"]</a:t>
            </a:r>
          </a:p>
          <a:p>
            <a:pPr marL="0" indent="0">
              <a:buNone/>
            </a:pPr>
            <a:r>
              <a:rPr lang="en-US" dirty="0"/>
              <a:t>   for record in records</a:t>
            </a:r>
          </a:p>
          <a:p>
            <a:pPr marL="0" indent="0">
              <a:buNone/>
            </a:pPr>
            <a:r>
              <a:rPr lang="en-US" dirty="0"/>
              <a:t>)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</a:t>
            </a:r>
            <a:r>
              <a:rPr lang="tr-TR" dirty="0" err="1"/>
              <a:t>statuses</a:t>
            </a:r>
            <a:r>
              <a:rPr lang="tr-TR" dirty="0"/>
              <a:t>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Counter({</a:t>
            </a:r>
          </a:p>
          <a:p>
            <a:pPr marL="0" indent="0">
              <a:buNone/>
            </a:pPr>
            <a:r>
              <a:rPr lang="en-US" dirty="0"/>
              <a:t>    'SUCCESS': 39,</a:t>
            </a:r>
          </a:p>
          <a:p>
            <a:pPr marL="0" indent="0">
              <a:buNone/>
            </a:pPr>
            <a:r>
              <a:rPr lang="en-US" dirty="0"/>
              <a:t>    'FAILED': 21</a:t>
            </a:r>
          </a:p>
          <a:p>
            <a:pPr marL="0" indent="0">
              <a:buNone/>
            </a:pPr>
            <a:r>
              <a:rPr lang="en-US" dirty="0"/>
              <a:t>})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422E6D3-5A8A-47AA-2C08-7A94A62A820E}"/>
              </a:ext>
            </a:extLst>
          </p:cNvPr>
          <p:cNvSpPr txBox="1"/>
          <p:nvPr/>
        </p:nvSpPr>
        <p:spPr>
          <a:xfrm>
            <a:off x="6502400" y="3429000"/>
            <a:ext cx="44026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İlk güvenlik istatistiği elde edilmiş oldu.</a:t>
            </a:r>
          </a:p>
          <a:p>
            <a:endParaRPr lang="tr-TR" b="1" dirty="0"/>
          </a:p>
          <a:p>
            <a:r>
              <a:rPr lang="tr-TR" b="1" dirty="0"/>
              <a:t>60 Login Olayı</a:t>
            </a:r>
          </a:p>
          <a:p>
            <a:r>
              <a:rPr lang="tr-TR" b="1" dirty="0"/>
              <a:t>39 SUCCESS</a:t>
            </a:r>
          </a:p>
          <a:p>
            <a:r>
              <a:rPr lang="tr-TR" b="1" dirty="0"/>
              <a:t>21 FAILED</a:t>
            </a:r>
          </a:p>
        </p:txBody>
      </p:sp>
      <p:sp>
        <p:nvSpPr>
          <p:cNvPr id="6" name="Sağ Ayraç 5">
            <a:extLst>
              <a:ext uri="{FF2B5EF4-FFF2-40B4-BE49-F238E27FC236}">
                <a16:creationId xmlns:a16="http://schemas.microsoft.com/office/drawing/2014/main" id="{AC385A8F-2472-84EE-4291-B91371447DAE}"/>
              </a:ext>
            </a:extLst>
          </p:cNvPr>
          <p:cNvSpPr/>
          <p:nvPr/>
        </p:nvSpPr>
        <p:spPr>
          <a:xfrm>
            <a:off x="4216400" y="1712887"/>
            <a:ext cx="1676400" cy="421904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1385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268E44-E135-9012-930C-FE4B2E09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62792"/>
            <a:ext cx="10515600" cy="2276475"/>
          </a:xfrm>
        </p:spPr>
        <p:txBody>
          <a:bodyPr>
            <a:normAutofit/>
          </a:bodyPr>
          <a:lstStyle/>
          <a:p>
            <a:r>
              <a:rPr lang="tr-TR" dirty="0"/>
              <a:t>21 başarısız giriş görmek:</a:t>
            </a:r>
            <a:br>
              <a:rPr lang="tr-TR" dirty="0"/>
            </a:br>
            <a:br>
              <a:rPr lang="tr-TR" dirty="0"/>
            </a:br>
            <a:r>
              <a:rPr lang="tr-TR" b="1" dirty="0"/>
              <a:t>Saldırı olduğu anlamına gelir mi?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6339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7544DF-130D-D849-F47B-A0D0CD3D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392"/>
            <a:ext cx="10515600" cy="3529541"/>
          </a:xfrm>
        </p:spPr>
        <p:txBody>
          <a:bodyPr>
            <a:normAutofit/>
          </a:bodyPr>
          <a:lstStyle/>
          <a:p>
            <a:r>
              <a:rPr lang="tr-TR" dirty="0"/>
              <a:t>Hayır.</a:t>
            </a:r>
            <a:br>
              <a:rPr lang="tr-TR" dirty="0"/>
            </a:br>
            <a:r>
              <a:rPr lang="tr-TR" dirty="0"/>
              <a:t>Bir kullanıcının parolasını yanlış yazması da FAILED üretir.</a:t>
            </a:r>
            <a:br>
              <a:rPr lang="tr-TR" dirty="0"/>
            </a:br>
            <a:r>
              <a:rPr lang="tr-TR" dirty="0"/>
              <a:t>Tek başına yeterli değildir, Bağlam gerekiyor.</a:t>
            </a:r>
          </a:p>
        </p:txBody>
      </p:sp>
    </p:spTree>
    <p:extLst>
      <p:ext uri="{BB962C8B-B14F-4D97-AF65-F5344CB8AC3E}">
        <p14:creationId xmlns:p14="http://schemas.microsoft.com/office/powerpoint/2010/main" val="3147671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FD62CE-D9B9-2204-1100-9773A7A3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FAILED olaylar hangi IP'lerden geliyor?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A04B4F-B199-04C7-ED9F-ADF9276B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67" cy="4351338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Sadece </a:t>
            </a:r>
            <a:r>
              <a:rPr lang="tr-TR" b="1" dirty="0" err="1"/>
              <a:t>record</a:t>
            </a:r>
            <a:r>
              <a:rPr lang="tr-TR" b="1" dirty="0"/>
              <a:t>["</a:t>
            </a:r>
            <a:r>
              <a:rPr lang="tr-TR" b="1" dirty="0" err="1"/>
              <a:t>status</a:t>
            </a:r>
            <a:r>
              <a:rPr lang="tr-TR" b="1" dirty="0"/>
              <a:t>"] == "FAILED" </a:t>
            </a:r>
            <a:r>
              <a:rPr lang="tr-TR" dirty="0"/>
              <a:t>olan kayıtları çekmek gerekir.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 err="1"/>
              <a:t>failed_ips</a:t>
            </a:r>
            <a:r>
              <a:rPr lang="en-US" dirty="0"/>
              <a:t> = Counter(</a:t>
            </a:r>
          </a:p>
          <a:p>
            <a:pPr marL="0" indent="0">
              <a:buNone/>
            </a:pPr>
            <a:r>
              <a:rPr lang="en-US" dirty="0"/>
              <a:t>    record["</a:t>
            </a:r>
            <a:r>
              <a:rPr lang="en-US" dirty="0" err="1"/>
              <a:t>src_ip</a:t>
            </a:r>
            <a:r>
              <a:rPr lang="en-US" dirty="0"/>
              <a:t>"]</a:t>
            </a:r>
          </a:p>
          <a:p>
            <a:pPr marL="0" indent="0">
              <a:buNone/>
            </a:pPr>
            <a:r>
              <a:rPr lang="en-US" dirty="0"/>
              <a:t>    for record in records</a:t>
            </a:r>
          </a:p>
          <a:p>
            <a:pPr marL="0" indent="0">
              <a:buNone/>
            </a:pPr>
            <a:r>
              <a:rPr lang="en-US" dirty="0"/>
              <a:t>    if record["status"] == "FAILED"</a:t>
            </a:r>
          </a:p>
          <a:p>
            <a:pPr marL="0" indent="0">
              <a:buNone/>
            </a:pPr>
            <a:r>
              <a:rPr lang="en-US" dirty="0"/>
              <a:t>)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</a:t>
            </a:r>
            <a:r>
              <a:rPr lang="tr-TR" dirty="0" err="1"/>
              <a:t>failed_ips</a:t>
            </a:r>
            <a:r>
              <a:rPr lang="tr-TR" dirty="0"/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41B2F71-A32A-53AB-7771-060A69FF91E3}"/>
              </a:ext>
            </a:extLst>
          </p:cNvPr>
          <p:cNvSpPr txBox="1"/>
          <p:nvPr/>
        </p:nvSpPr>
        <p:spPr>
          <a:xfrm>
            <a:off x="7882467" y="3350736"/>
            <a:ext cx="403085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500" b="1" dirty="0"/>
              <a:t>Veri Setine Göre:</a:t>
            </a:r>
          </a:p>
          <a:p>
            <a:endParaRPr lang="tr-TR" sz="2500" b="1" dirty="0"/>
          </a:p>
          <a:p>
            <a:r>
              <a:rPr lang="tr-TR" sz="2500" b="1" dirty="0"/>
              <a:t>10.10.1.25  → 8</a:t>
            </a:r>
          </a:p>
          <a:p>
            <a:r>
              <a:rPr lang="tr-TR" sz="2500" b="1" dirty="0"/>
              <a:t>10.10.1.12  → 4</a:t>
            </a:r>
          </a:p>
          <a:p>
            <a:r>
              <a:rPr lang="tr-TR" sz="2500" b="1" dirty="0"/>
              <a:t>172.16.5.20 → 4</a:t>
            </a:r>
          </a:p>
          <a:p>
            <a:r>
              <a:rPr lang="tr-TR" sz="2500" b="1" dirty="0"/>
              <a:t>10.10.1.11  → 3</a:t>
            </a:r>
          </a:p>
          <a:p>
            <a:r>
              <a:rPr lang="tr-TR" sz="2500" b="1" dirty="0"/>
              <a:t>10.10.1.10  → 2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E4437A3-332D-A2B5-6F1F-2172E70BCE28}"/>
              </a:ext>
            </a:extLst>
          </p:cNvPr>
          <p:cNvSpPr txBox="1"/>
          <p:nvPr/>
        </p:nvSpPr>
        <p:spPr>
          <a:xfrm>
            <a:off x="6959600" y="61697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10.10.1.25</a:t>
            </a:r>
          </a:p>
          <a:p>
            <a:r>
              <a:rPr lang="tr-TR" dirty="0"/>
              <a:t>diğer IP'lere göre daha fazla başarısız giriş üretmiş.</a:t>
            </a:r>
          </a:p>
        </p:txBody>
      </p:sp>
    </p:spTree>
    <p:extLst>
      <p:ext uri="{BB962C8B-B14F-4D97-AF65-F5344CB8AC3E}">
        <p14:creationId xmlns:p14="http://schemas.microsoft.com/office/powerpoint/2010/main" val="2254848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01A62E-2AF9-32AF-F997-1B93EE4EA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259"/>
            <a:ext cx="10515600" cy="1325563"/>
          </a:xfrm>
        </p:spPr>
        <p:txBody>
          <a:bodyPr/>
          <a:lstStyle/>
          <a:p>
            <a:r>
              <a:rPr lang="tr-TR" dirty="0"/>
              <a:t>En Fazla FAILED Üreten IP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486EB8-FF95-255A-707F-0AA7B46D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934"/>
            <a:ext cx="10515600" cy="55710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failed_ips.most_common</a:t>
            </a:r>
            <a:r>
              <a:rPr lang="en-US" dirty="0"/>
              <a:t>(1)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[</a:t>
            </a:r>
          </a:p>
          <a:p>
            <a:pPr marL="0" indent="0">
              <a:buNone/>
            </a:pPr>
            <a:r>
              <a:rPr lang="tr-TR" dirty="0"/>
              <a:t>    ('10.10.1.25', 8)</a:t>
            </a:r>
          </a:p>
          <a:p>
            <a:pPr marL="0" indent="0">
              <a:buNone/>
            </a:pPr>
            <a:r>
              <a:rPr lang="tr-TR" dirty="0"/>
              <a:t>]</a:t>
            </a:r>
          </a:p>
          <a:p>
            <a:pPr marL="0" indent="0">
              <a:buNone/>
            </a:pPr>
            <a:r>
              <a:rPr lang="tr-TR" dirty="0"/>
              <a:t>İlk elemanı almak istersek:</a:t>
            </a:r>
          </a:p>
          <a:p>
            <a:pPr marL="0" indent="0">
              <a:buNone/>
            </a:pPr>
            <a:r>
              <a:rPr lang="en-US" dirty="0" err="1"/>
              <a:t>failed_ips.most_common</a:t>
            </a:r>
            <a:r>
              <a:rPr lang="en-US" dirty="0"/>
              <a:t>(1)[0]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Çıktı:</a:t>
            </a:r>
          </a:p>
          <a:p>
            <a:pPr marL="0" indent="0">
              <a:buNone/>
            </a:pPr>
            <a:r>
              <a:rPr lang="tr-TR" dirty="0"/>
              <a:t>('10.10.1.25', 8)</a:t>
            </a:r>
          </a:p>
        </p:txBody>
      </p:sp>
    </p:spTree>
    <p:extLst>
      <p:ext uri="{BB962C8B-B14F-4D97-AF65-F5344CB8AC3E}">
        <p14:creationId xmlns:p14="http://schemas.microsoft.com/office/powerpoint/2010/main" val="2353937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7CC25A-A885-B25D-4D3F-A88F408FD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Analistiyiz (SOC L1 Manager)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EB4FD8-FDAC-99FB-9E7E-C5981D59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IP: 10.10.1.25</a:t>
            </a:r>
          </a:p>
          <a:p>
            <a:pPr marL="0" indent="0">
              <a:buNone/>
            </a:pPr>
            <a:r>
              <a:rPr lang="en-US" dirty="0"/>
              <a:t>FAILED LOGIN: 8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Bu IP saldırgan mıdır?</a:t>
            </a:r>
          </a:p>
        </p:txBody>
      </p:sp>
    </p:spTree>
    <p:extLst>
      <p:ext uri="{BB962C8B-B14F-4D97-AF65-F5344CB8AC3E}">
        <p14:creationId xmlns:p14="http://schemas.microsoft.com/office/powerpoint/2010/main" val="3212706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99612F-E62F-0DC8-B18E-CD5E68C7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29BBC0-A5F6-06D2-9679-AE226E5F4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Ne kadar sürede 8 kez denedi? </a:t>
            </a:r>
          </a:p>
          <a:p>
            <a:r>
              <a:rPr lang="tr-TR" dirty="0"/>
              <a:t>Hangi kullanıcıyı denedi? </a:t>
            </a:r>
          </a:p>
          <a:p>
            <a:r>
              <a:rPr lang="tr-TR" dirty="0"/>
              <a:t>Sonrasında başarılı oldu mu? </a:t>
            </a:r>
          </a:p>
          <a:p>
            <a:r>
              <a:rPr lang="tr-TR" dirty="0"/>
              <a:t>Bu IP normal bir istemci mi? </a:t>
            </a:r>
          </a:p>
          <a:p>
            <a:r>
              <a:rPr lang="tr-TR" dirty="0"/>
              <a:t>Başka IP'lerde benzer davranış var mı? 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Güvenlik analizi bağlam gerektirir.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39779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E58098-97ED-ACEC-933E-087470AD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 Analizi Yol Haritası (Korelasyon ve Mini SIEM Öncesi)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4F1D4E-18A5-E57B-B82A-23D1AC220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867" cy="4351338"/>
          </a:xfrm>
        </p:spPr>
        <p:txBody>
          <a:bodyPr>
            <a:normAutofit fontScale="85000" lnSpcReduction="20000"/>
          </a:bodyPr>
          <a:lstStyle/>
          <a:p>
            <a:r>
              <a:rPr lang="tr-TR" dirty="0"/>
              <a:t>Önce FAILED say</a:t>
            </a:r>
          </a:p>
          <a:p>
            <a:r>
              <a:rPr lang="tr-TR" dirty="0"/>
              <a:t>Sonra IP Bazında FAILED say</a:t>
            </a:r>
          </a:p>
          <a:p>
            <a:endParaRPr lang="tr-TR" dirty="0"/>
          </a:p>
          <a:p>
            <a:r>
              <a:rPr lang="tr-TR" dirty="0"/>
              <a:t>Daha Sonra:</a:t>
            </a:r>
          </a:p>
          <a:p>
            <a:pPr marL="0" indent="0">
              <a:buNone/>
            </a:pPr>
            <a:r>
              <a:rPr lang="tr-TR" dirty="0"/>
              <a:t>Aynı IP</a:t>
            </a:r>
          </a:p>
          <a:p>
            <a:pPr marL="0" indent="0">
              <a:buNone/>
            </a:pPr>
            <a:r>
              <a:rPr lang="tr-TR" dirty="0"/>
              <a:t>+</a:t>
            </a:r>
          </a:p>
          <a:p>
            <a:pPr marL="0" indent="0">
              <a:buNone/>
            </a:pPr>
            <a:r>
              <a:rPr lang="tr-TR" dirty="0"/>
              <a:t>Belirli zaman aralığı</a:t>
            </a:r>
          </a:p>
          <a:p>
            <a:pPr marL="0" indent="0">
              <a:buNone/>
            </a:pPr>
            <a:r>
              <a:rPr lang="tr-TR" dirty="0"/>
              <a:t>+</a:t>
            </a:r>
          </a:p>
          <a:p>
            <a:pPr marL="0" indent="0">
              <a:buNone/>
            </a:pPr>
            <a:r>
              <a:rPr lang="tr-TR" dirty="0"/>
              <a:t>Belirli sayıda FAILED</a:t>
            </a:r>
          </a:p>
          <a:p>
            <a:pPr marL="0" indent="0">
              <a:buNone/>
            </a:pPr>
            <a:r>
              <a:rPr lang="tr-TR" dirty="0"/>
              <a:t>=</a:t>
            </a:r>
          </a:p>
          <a:p>
            <a:pPr marL="0" indent="0">
              <a:buNone/>
            </a:pPr>
            <a:r>
              <a:rPr lang="tr-TR" dirty="0"/>
              <a:t>ALERT</a:t>
            </a:r>
          </a:p>
        </p:txBody>
      </p:sp>
    </p:spTree>
    <p:extLst>
      <p:ext uri="{BB962C8B-B14F-4D97-AF65-F5344CB8AC3E}">
        <p14:creationId xmlns:p14="http://schemas.microsoft.com/office/powerpoint/2010/main" val="3940447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01CC46-7BC6-F5FF-8108-0F195C62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7608"/>
            <a:ext cx="10515600" cy="1325563"/>
          </a:xfrm>
        </p:spPr>
        <p:txBody>
          <a:bodyPr/>
          <a:lstStyle/>
          <a:p>
            <a:r>
              <a:rPr lang="tr-TR" dirty="0"/>
              <a:t>main() Fonksiyonu Tamamla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E0E64B9-4D01-C100-E7FF-C8F008C6A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601133"/>
            <a:ext cx="3987800" cy="62568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def main():</a:t>
            </a:r>
          </a:p>
          <a:p>
            <a:pPr marL="0" indent="0">
              <a:buNone/>
            </a:pPr>
            <a:r>
              <a:rPr lang="en-US" sz="1800" dirty="0"/>
              <a:t>    records = [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parse_line</a:t>
            </a:r>
            <a:r>
              <a:rPr lang="en-US" sz="1800" dirty="0"/>
              <a:t>(line)</a:t>
            </a:r>
          </a:p>
          <a:p>
            <a:pPr marL="0" indent="0">
              <a:buNone/>
            </a:pPr>
            <a:r>
              <a:rPr lang="en-US" sz="1800" dirty="0"/>
              <a:t>        for line in </a:t>
            </a:r>
            <a:r>
              <a:rPr lang="en-US" sz="1800" dirty="0" err="1"/>
              <a:t>LOG.read_text</a:t>
            </a:r>
            <a:r>
              <a:rPr lang="en-US" sz="1800" dirty="0"/>
              <a:t>(</a:t>
            </a:r>
          </a:p>
          <a:p>
            <a:pPr marL="0" indent="0">
              <a:buNone/>
            </a:pPr>
            <a:r>
              <a:rPr lang="en-US" sz="1800" dirty="0"/>
              <a:t>            encoding="utf-8"</a:t>
            </a:r>
          </a:p>
          <a:p>
            <a:pPr marL="0" indent="0">
              <a:buNone/>
            </a:pPr>
            <a:r>
              <a:rPr lang="en-US" sz="1800" dirty="0"/>
              <a:t>        ).</a:t>
            </a:r>
            <a:r>
              <a:rPr lang="en-US" sz="1800" dirty="0" err="1"/>
              <a:t>splitlines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     if </a:t>
            </a:r>
            <a:r>
              <a:rPr lang="en-US" sz="1800" dirty="0" err="1"/>
              <a:t>line.strip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r>
              <a:rPr lang="en-US" sz="1800" dirty="0"/>
              <a:t>    ]</a:t>
            </a:r>
          </a:p>
          <a:p>
            <a:pPr marL="0" indent="0">
              <a:buNone/>
            </a:pPr>
            <a:r>
              <a:rPr lang="en-US" sz="1800" dirty="0"/>
              <a:t>    statuses = Counter(</a:t>
            </a:r>
          </a:p>
          <a:p>
            <a:pPr marL="0" indent="0">
              <a:buNone/>
            </a:pPr>
            <a:r>
              <a:rPr lang="en-US" sz="1800" dirty="0"/>
              <a:t>        record["status"]</a:t>
            </a:r>
          </a:p>
          <a:p>
            <a:pPr marL="0" indent="0">
              <a:buNone/>
            </a:pPr>
            <a:r>
              <a:rPr lang="en-US" sz="1800" dirty="0"/>
              <a:t>        for record in records</a:t>
            </a:r>
          </a:p>
          <a:p>
            <a:pPr marL="0" indent="0">
              <a:buNone/>
            </a:pPr>
            <a:r>
              <a:rPr lang="en-US" sz="1800" dirty="0"/>
              <a:t>    )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failed_ips</a:t>
            </a:r>
            <a:r>
              <a:rPr lang="en-US" sz="1800" dirty="0"/>
              <a:t> = Counter(</a:t>
            </a:r>
          </a:p>
          <a:p>
            <a:pPr marL="0" indent="0">
              <a:buNone/>
            </a:pPr>
            <a:r>
              <a:rPr lang="en-US" sz="1800" dirty="0"/>
              <a:t>        record["</a:t>
            </a:r>
            <a:r>
              <a:rPr lang="en-US" sz="1800" dirty="0" err="1"/>
              <a:t>src_ip</a:t>
            </a:r>
            <a:r>
              <a:rPr lang="en-US" sz="1800" dirty="0"/>
              <a:t>"]</a:t>
            </a:r>
          </a:p>
          <a:p>
            <a:pPr marL="0" indent="0">
              <a:buNone/>
            </a:pPr>
            <a:r>
              <a:rPr lang="en-US" sz="1800" dirty="0"/>
              <a:t>        for record in records</a:t>
            </a:r>
          </a:p>
          <a:p>
            <a:pPr marL="0" indent="0">
              <a:buNone/>
            </a:pPr>
            <a:r>
              <a:rPr lang="en-US" sz="1800" dirty="0"/>
              <a:t>        if record["status"] == "FAILED"</a:t>
            </a:r>
          </a:p>
          <a:p>
            <a:pPr marL="0" indent="0">
              <a:buNone/>
            </a:pPr>
            <a:r>
              <a:rPr lang="en-US" sz="1800" dirty="0"/>
              <a:t>    )</a:t>
            </a:r>
            <a:endParaRPr lang="tr-TR" sz="1800" dirty="0"/>
          </a:p>
          <a:p>
            <a:pPr marL="0" indent="0">
              <a:buNone/>
            </a:pPr>
            <a:endParaRPr lang="tr-TR" sz="18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DF27EF8-472D-9421-CFCC-0EBECDEE864E}"/>
              </a:ext>
            </a:extLst>
          </p:cNvPr>
          <p:cNvSpPr txBox="1"/>
          <p:nvPr/>
        </p:nvSpPr>
        <p:spPr>
          <a:xfrm>
            <a:off x="7230533" y="2274838"/>
            <a:ext cx="4343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print(</a:t>
            </a:r>
          </a:p>
          <a:p>
            <a:pPr marL="0" indent="0">
              <a:buNone/>
            </a:pPr>
            <a:r>
              <a:rPr lang="en-US" sz="2000" dirty="0"/>
              <a:t>        "Status counts:",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dict</a:t>
            </a:r>
            <a:r>
              <a:rPr lang="en-US" sz="2000" dirty="0"/>
              <a:t>(statuses)</a:t>
            </a:r>
          </a:p>
          <a:p>
            <a:pPr marL="0" indent="0">
              <a:buNone/>
            </a:pPr>
            <a:r>
              <a:rPr lang="en-US" sz="2000" dirty="0"/>
              <a:t>    )</a:t>
            </a:r>
          </a:p>
          <a:p>
            <a:pPr marL="0" indent="0">
              <a:buNone/>
            </a:pPr>
            <a:r>
              <a:rPr lang="en-US" sz="2000" dirty="0"/>
              <a:t>    print(</a:t>
            </a:r>
          </a:p>
          <a:p>
            <a:pPr marL="0" indent="0">
              <a:buNone/>
            </a:pPr>
            <a:r>
              <a:rPr lang="en-US" sz="2000" dirty="0"/>
              <a:t>        "Top failed IP:",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failed_ips.most_common</a:t>
            </a:r>
            <a:r>
              <a:rPr lang="en-US" sz="2000" dirty="0"/>
              <a:t>(1)[0]</a:t>
            </a:r>
          </a:p>
          <a:p>
            <a:pPr marL="0" indent="0">
              <a:buNone/>
            </a:pPr>
            <a:r>
              <a:rPr lang="en-US" sz="2000" dirty="0"/>
              <a:t>    )</a:t>
            </a:r>
            <a:endParaRPr lang="tr-TR" sz="2000" dirty="0"/>
          </a:p>
        </p:txBody>
      </p:sp>
      <p:cxnSp>
        <p:nvCxnSpPr>
          <p:cNvPr id="11" name="Bağlayıcı: Eğri 10">
            <a:extLst>
              <a:ext uri="{FF2B5EF4-FFF2-40B4-BE49-F238E27FC236}">
                <a16:creationId xmlns:a16="http://schemas.microsoft.com/office/drawing/2014/main" id="{F3358BD5-9E5D-E07D-DF18-D81A3BE83650}"/>
              </a:ext>
            </a:extLst>
          </p:cNvPr>
          <p:cNvCxnSpPr>
            <a:cxnSpLocks/>
          </p:cNvCxnSpPr>
          <p:nvPr/>
        </p:nvCxnSpPr>
        <p:spPr>
          <a:xfrm flipV="1">
            <a:off x="4317999" y="3429000"/>
            <a:ext cx="2980271" cy="28956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257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972697-2F3C-76F2-FF61-D1C418EF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Tam kod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706E67-E1FD-B2E9-2B6B-F108F14D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47000" cy="2373842"/>
          </a:xfrm>
        </p:spPr>
        <p:txBody>
          <a:bodyPr/>
          <a:lstStyle/>
          <a:p>
            <a:r>
              <a:rPr lang="tr-TR" dirty="0" err="1"/>
              <a:t>python</a:t>
            </a:r>
            <a:r>
              <a:rPr lang="tr-TR" dirty="0"/>
              <a:t> week02_log_parser.py</a:t>
            </a:r>
          </a:p>
          <a:p>
            <a:endParaRPr lang="tr-TR" dirty="0"/>
          </a:p>
          <a:p>
            <a:r>
              <a:rPr lang="en-US" dirty="0"/>
              <a:t>Status counts: {'FAILED': 21, 'SUCCESS': 39}</a:t>
            </a:r>
          </a:p>
          <a:p>
            <a:r>
              <a:rPr lang="en-US" dirty="0"/>
              <a:t>Top failed IP: ('10.10.1.25', 8)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D75CD5A-C408-B165-98A5-94AA4F292F3D}"/>
              </a:ext>
            </a:extLst>
          </p:cNvPr>
          <p:cNvSpPr txBox="1"/>
          <p:nvPr/>
        </p:nvSpPr>
        <p:spPr>
          <a:xfrm>
            <a:off x="3107267" y="446155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Artık program: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Dosya okuyor.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Log </a:t>
            </a:r>
            <a:r>
              <a:rPr lang="tr-TR" dirty="0" err="1"/>
              <a:t>parse</a:t>
            </a:r>
            <a:r>
              <a:rPr lang="tr-TR" dirty="0"/>
              <a:t> ediyor.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Veriyi yapılandırıyor.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Filtreliyor.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Sayıyor.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Güvenlik açısından anlamlı bir sonuç üretiyor.</a:t>
            </a:r>
          </a:p>
        </p:txBody>
      </p:sp>
    </p:spTree>
    <p:extLst>
      <p:ext uri="{BB962C8B-B14F-4D97-AF65-F5344CB8AC3E}">
        <p14:creationId xmlns:p14="http://schemas.microsoft.com/office/powerpoint/2010/main" val="3488482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38D0A3-200D-85D5-C4CF-7D2D8064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 Yönetimi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D01BF9-B85C-5003-0A7A-1FD159DAB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ön işleme olmayabilir</a:t>
            </a:r>
          </a:p>
          <a:p>
            <a:r>
              <a:rPr lang="tr-TR" dirty="0"/>
              <a:t>Log dosyası </a:t>
            </a:r>
            <a:r>
              <a:rPr lang="en-US" b="1" dirty="0"/>
              <a:t>THIS IS NOT A VALID LOG</a:t>
            </a:r>
            <a:r>
              <a:rPr lang="tr-TR" b="1" dirty="0"/>
              <a:t> </a:t>
            </a:r>
            <a:r>
              <a:rPr lang="tr-TR" dirty="0"/>
              <a:t>şeklinde bir kayıt içerebilir.</a:t>
            </a:r>
          </a:p>
          <a:p>
            <a:pPr marL="0" indent="0">
              <a:buNone/>
            </a:pPr>
            <a:r>
              <a:rPr lang="tr-TR" dirty="0"/>
              <a:t>gerçek dünyada loglar:</a:t>
            </a:r>
          </a:p>
          <a:p>
            <a:r>
              <a:rPr lang="tr-TR" dirty="0"/>
              <a:t>Eksik olabilir. </a:t>
            </a:r>
          </a:p>
          <a:p>
            <a:r>
              <a:rPr lang="tr-TR" dirty="0"/>
              <a:t>Bozuk olabilir. </a:t>
            </a:r>
          </a:p>
          <a:p>
            <a:r>
              <a:rPr lang="tr-TR" dirty="0"/>
              <a:t>Beklenmeyen formatta olabilir. </a:t>
            </a:r>
          </a:p>
          <a:p>
            <a:r>
              <a:rPr lang="tr-TR" dirty="0"/>
              <a:t>Yeni alanlar içerebilir.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280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DC3315-A562-AEF1-351C-3078B3E9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106891"/>
            <a:ext cx="10515600" cy="1654175"/>
          </a:xfrm>
        </p:spPr>
        <p:txBody>
          <a:bodyPr>
            <a:normAutofit/>
          </a:bodyPr>
          <a:lstStyle/>
          <a:p>
            <a:r>
              <a:rPr lang="tr-TR" dirty="0"/>
              <a:t>Mevcut Kod bu satırı işlerken hataya düşer:</a:t>
            </a:r>
          </a:p>
          <a:p>
            <a:pPr marL="0" indent="0">
              <a:buNone/>
            </a:pPr>
            <a:r>
              <a:rPr lang="en-US" dirty="0"/>
              <a:t>key, value = </a:t>
            </a:r>
            <a:r>
              <a:rPr lang="en-US" dirty="0" err="1"/>
              <a:t>item.split</a:t>
            </a:r>
            <a:r>
              <a:rPr lang="en-US" dirty="0"/>
              <a:t>("=", 1)</a:t>
            </a:r>
            <a:endParaRPr lang="tr-TR" dirty="0"/>
          </a:p>
          <a:p>
            <a:pPr marL="0" indent="0">
              <a:buNone/>
            </a:pPr>
            <a:r>
              <a:rPr lang="tr-TR" u="sng" dirty="0"/>
              <a:t>Hata Düzeltmesi: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D7416B3-5BE1-3A75-7BB0-87AF0AA3F572}"/>
              </a:ext>
            </a:extLst>
          </p:cNvPr>
          <p:cNvSpPr txBox="1"/>
          <p:nvPr/>
        </p:nvSpPr>
        <p:spPr>
          <a:xfrm>
            <a:off x="685799" y="1761066"/>
            <a:ext cx="39962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def </a:t>
            </a:r>
            <a:r>
              <a:rPr lang="tr-TR" dirty="0" err="1"/>
              <a:t>parse_line</a:t>
            </a:r>
            <a:r>
              <a:rPr lang="tr-TR" dirty="0"/>
              <a:t>(</a:t>
            </a:r>
            <a:r>
              <a:rPr lang="tr-TR" dirty="0" err="1"/>
              <a:t>line</a:t>
            </a:r>
            <a:r>
              <a:rPr lang="tr-TR" dirty="0"/>
              <a:t>: </a:t>
            </a:r>
            <a:r>
              <a:rPr lang="tr-TR" dirty="0" err="1"/>
              <a:t>str</a:t>
            </a:r>
            <a:r>
              <a:rPr lang="tr-TR" dirty="0"/>
              <a:t>) -&gt; </a:t>
            </a:r>
            <a:r>
              <a:rPr lang="tr-TR" dirty="0" err="1"/>
              <a:t>dict</a:t>
            </a:r>
            <a:r>
              <a:rPr lang="tr-TR" dirty="0"/>
              <a:t>:</a:t>
            </a:r>
          </a:p>
          <a:p>
            <a:r>
              <a:rPr lang="tr-TR" dirty="0"/>
              <a:t>    </a:t>
            </a:r>
            <a:r>
              <a:rPr lang="tr-TR" dirty="0" err="1"/>
              <a:t>items</a:t>
            </a:r>
            <a:r>
              <a:rPr lang="tr-TR" dirty="0"/>
              <a:t> = </a:t>
            </a:r>
            <a:r>
              <a:rPr lang="tr-TR" dirty="0" err="1"/>
              <a:t>line.strip</a:t>
            </a:r>
            <a:r>
              <a:rPr lang="tr-TR" dirty="0"/>
              <a:t>().</a:t>
            </a:r>
            <a:r>
              <a:rPr lang="tr-TR" dirty="0" err="1"/>
              <a:t>split</a:t>
            </a:r>
            <a:r>
              <a:rPr lang="tr-TR" dirty="0"/>
              <a:t>()</a:t>
            </a:r>
          </a:p>
          <a:p>
            <a:r>
              <a:rPr lang="tr-TR" dirty="0"/>
              <a:t>    </a:t>
            </a:r>
            <a:r>
              <a:rPr lang="tr-TR" dirty="0" err="1"/>
              <a:t>if</a:t>
            </a:r>
            <a:r>
              <a:rPr lang="tr-TR" dirty="0"/>
              <a:t> not </a:t>
            </a:r>
            <a:r>
              <a:rPr lang="tr-TR" dirty="0" err="1"/>
              <a:t>items</a:t>
            </a:r>
            <a:r>
              <a:rPr lang="tr-TR" dirty="0"/>
              <a:t>:</a:t>
            </a:r>
          </a:p>
          <a:p>
            <a:r>
              <a:rPr lang="tr-TR" dirty="0"/>
              <a:t>        </a:t>
            </a:r>
            <a:r>
              <a:rPr lang="tr-TR" dirty="0" err="1"/>
              <a:t>raise</a:t>
            </a:r>
            <a:r>
              <a:rPr lang="tr-TR" dirty="0"/>
              <a:t> </a:t>
            </a:r>
            <a:r>
              <a:rPr lang="tr-TR" dirty="0" err="1"/>
              <a:t>ValueError</a:t>
            </a:r>
            <a:r>
              <a:rPr lang="tr-TR" dirty="0"/>
              <a:t>("</a:t>
            </a:r>
            <a:r>
              <a:rPr lang="tr-TR" dirty="0" err="1"/>
              <a:t>Empty</a:t>
            </a:r>
            <a:r>
              <a:rPr lang="tr-TR" dirty="0"/>
              <a:t> log </a:t>
            </a:r>
            <a:r>
              <a:rPr lang="tr-TR" dirty="0" err="1"/>
              <a:t>line</a:t>
            </a:r>
            <a:r>
              <a:rPr lang="tr-TR" dirty="0"/>
              <a:t>")</a:t>
            </a:r>
          </a:p>
          <a:p>
            <a:endParaRPr lang="tr-TR" dirty="0"/>
          </a:p>
          <a:p>
            <a:r>
              <a:rPr lang="tr-TR" dirty="0"/>
              <a:t>    data = {</a:t>
            </a:r>
          </a:p>
          <a:p>
            <a:r>
              <a:rPr lang="tr-TR" dirty="0"/>
              <a:t>        "</a:t>
            </a:r>
            <a:r>
              <a:rPr lang="tr-TR" dirty="0" err="1"/>
              <a:t>timestamp</a:t>
            </a:r>
            <a:r>
              <a:rPr lang="tr-TR" dirty="0"/>
              <a:t>": </a:t>
            </a:r>
            <a:r>
              <a:rPr lang="tr-TR" dirty="0" err="1"/>
              <a:t>items</a:t>
            </a:r>
            <a:r>
              <a:rPr lang="tr-TR" dirty="0"/>
              <a:t>[0]</a:t>
            </a:r>
          </a:p>
          <a:p>
            <a:r>
              <a:rPr lang="tr-TR" dirty="0"/>
              <a:t>    }</a:t>
            </a:r>
          </a:p>
          <a:p>
            <a:r>
              <a:rPr lang="tr-TR" dirty="0"/>
              <a:t>   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item</a:t>
            </a:r>
            <a:r>
              <a:rPr lang="tr-TR" dirty="0"/>
              <a:t> in </a:t>
            </a:r>
            <a:r>
              <a:rPr lang="tr-TR" dirty="0" err="1"/>
              <a:t>items</a:t>
            </a:r>
            <a:r>
              <a:rPr lang="tr-TR" dirty="0"/>
              <a:t>[1:]:</a:t>
            </a:r>
          </a:p>
          <a:p>
            <a:endParaRPr lang="tr-TR" dirty="0"/>
          </a:p>
          <a:p>
            <a:r>
              <a:rPr lang="tr-TR" dirty="0"/>
              <a:t>        </a:t>
            </a:r>
            <a:r>
              <a:rPr lang="tr-TR" dirty="0" err="1"/>
              <a:t>if</a:t>
            </a:r>
            <a:r>
              <a:rPr lang="tr-TR" dirty="0"/>
              <a:t> "=" not in </a:t>
            </a:r>
            <a:r>
              <a:rPr lang="tr-TR" dirty="0" err="1"/>
              <a:t>item</a:t>
            </a:r>
            <a:r>
              <a:rPr lang="tr-TR" dirty="0"/>
              <a:t>:</a:t>
            </a:r>
          </a:p>
          <a:p>
            <a:r>
              <a:rPr lang="tr-TR" dirty="0"/>
              <a:t>            </a:t>
            </a:r>
            <a:r>
              <a:rPr lang="tr-TR" dirty="0" err="1"/>
              <a:t>raise</a:t>
            </a:r>
            <a:r>
              <a:rPr lang="tr-TR" dirty="0"/>
              <a:t> </a:t>
            </a:r>
            <a:r>
              <a:rPr lang="tr-TR" dirty="0" err="1"/>
              <a:t>ValueError</a:t>
            </a:r>
            <a:r>
              <a:rPr lang="tr-TR" dirty="0"/>
              <a:t>(</a:t>
            </a:r>
          </a:p>
          <a:p>
            <a:r>
              <a:rPr lang="tr-TR" dirty="0"/>
              <a:t>                </a:t>
            </a:r>
            <a:r>
              <a:rPr lang="tr-TR" dirty="0" err="1"/>
              <a:t>f"Invalid</a:t>
            </a:r>
            <a:r>
              <a:rPr lang="tr-TR" dirty="0"/>
              <a:t> </a:t>
            </a:r>
            <a:r>
              <a:rPr lang="tr-TR" dirty="0" err="1"/>
              <a:t>field</a:t>
            </a:r>
            <a:r>
              <a:rPr lang="tr-TR" dirty="0"/>
              <a:t>: {</a:t>
            </a:r>
            <a:r>
              <a:rPr lang="tr-TR" dirty="0" err="1"/>
              <a:t>item</a:t>
            </a:r>
            <a:r>
              <a:rPr lang="tr-TR" dirty="0"/>
              <a:t>}"</a:t>
            </a:r>
          </a:p>
          <a:p>
            <a:r>
              <a:rPr lang="tr-TR" dirty="0"/>
              <a:t>            )</a:t>
            </a:r>
          </a:p>
          <a:p>
            <a:r>
              <a:rPr lang="tr-TR" dirty="0"/>
              <a:t>        </a:t>
            </a:r>
            <a:r>
              <a:rPr lang="tr-TR" dirty="0" err="1"/>
              <a:t>key</a:t>
            </a:r>
            <a:r>
              <a:rPr lang="tr-TR" dirty="0"/>
              <a:t>, </a:t>
            </a:r>
            <a:r>
              <a:rPr lang="tr-TR" dirty="0" err="1"/>
              <a:t>value</a:t>
            </a:r>
            <a:r>
              <a:rPr lang="tr-TR" dirty="0"/>
              <a:t> = </a:t>
            </a:r>
            <a:r>
              <a:rPr lang="tr-TR" dirty="0" err="1"/>
              <a:t>item.split</a:t>
            </a:r>
            <a:r>
              <a:rPr lang="tr-TR" dirty="0"/>
              <a:t>("=", 1)</a:t>
            </a:r>
          </a:p>
          <a:p>
            <a:r>
              <a:rPr lang="tr-TR" dirty="0"/>
              <a:t>        data[</a:t>
            </a:r>
            <a:r>
              <a:rPr lang="tr-TR" dirty="0" err="1"/>
              <a:t>key</a:t>
            </a:r>
            <a:r>
              <a:rPr lang="tr-TR" dirty="0"/>
              <a:t>] = </a:t>
            </a:r>
            <a:r>
              <a:rPr lang="tr-TR" dirty="0" err="1"/>
              <a:t>value</a:t>
            </a:r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return</a:t>
            </a:r>
            <a:r>
              <a:rPr lang="tr-TR" dirty="0"/>
              <a:t> data</a:t>
            </a:r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9D6ED410-D65D-C635-E624-434868E22013}"/>
              </a:ext>
            </a:extLst>
          </p:cNvPr>
          <p:cNvSpPr txBox="1">
            <a:spLocks/>
          </p:cNvSpPr>
          <p:nvPr/>
        </p:nvSpPr>
        <p:spPr>
          <a:xfrm>
            <a:off x="5969000" y="1464732"/>
            <a:ext cx="3843867" cy="5393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1800" dirty="0" err="1"/>
              <a:t>records</a:t>
            </a:r>
            <a:r>
              <a:rPr lang="tr-TR" sz="1800" dirty="0"/>
              <a:t> = []</a:t>
            </a:r>
          </a:p>
          <a:p>
            <a:pPr marL="0" indent="0">
              <a:buNone/>
            </a:pPr>
            <a:r>
              <a:rPr lang="tr-TR" sz="1800" dirty="0" err="1"/>
              <a:t>for</a:t>
            </a:r>
            <a:r>
              <a:rPr lang="tr-TR" sz="1800" dirty="0"/>
              <a:t> </a:t>
            </a:r>
            <a:r>
              <a:rPr lang="tr-TR" sz="1800" dirty="0" err="1"/>
              <a:t>line</a:t>
            </a:r>
            <a:r>
              <a:rPr lang="tr-TR" sz="1800" dirty="0"/>
              <a:t> in </a:t>
            </a:r>
            <a:r>
              <a:rPr lang="tr-TR" sz="1800" dirty="0" err="1"/>
              <a:t>LOG.read_text</a:t>
            </a:r>
            <a:r>
              <a:rPr lang="tr-TR" sz="1800" dirty="0"/>
              <a:t>(</a:t>
            </a:r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err="1"/>
              <a:t>encoding</a:t>
            </a:r>
            <a:r>
              <a:rPr lang="tr-TR" sz="1800" dirty="0"/>
              <a:t>="utf-8"</a:t>
            </a:r>
          </a:p>
          <a:p>
            <a:pPr marL="0" indent="0">
              <a:buNone/>
            </a:pPr>
            <a:r>
              <a:rPr lang="tr-TR" sz="1800" dirty="0"/>
              <a:t>).</a:t>
            </a:r>
            <a:r>
              <a:rPr lang="tr-TR" sz="1800" dirty="0" err="1"/>
              <a:t>splitlines</a:t>
            </a:r>
            <a:r>
              <a:rPr lang="tr-TR" sz="1800" dirty="0"/>
              <a:t>():</a:t>
            </a:r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err="1"/>
              <a:t>if</a:t>
            </a:r>
            <a:r>
              <a:rPr lang="tr-TR" sz="1800" dirty="0"/>
              <a:t> not </a:t>
            </a:r>
            <a:r>
              <a:rPr lang="tr-TR" sz="1800" dirty="0" err="1"/>
              <a:t>line.strip</a:t>
            </a:r>
            <a:r>
              <a:rPr lang="tr-TR" sz="1800" dirty="0"/>
              <a:t>():</a:t>
            </a:r>
          </a:p>
          <a:p>
            <a:pPr marL="0" indent="0">
              <a:buNone/>
            </a:pPr>
            <a:r>
              <a:rPr lang="tr-TR" sz="1800" dirty="0"/>
              <a:t>        </a:t>
            </a:r>
            <a:r>
              <a:rPr lang="tr-TR" sz="1800" dirty="0" err="1"/>
              <a:t>continue</a:t>
            </a:r>
            <a:endParaRPr lang="tr-TR" sz="1800" dirty="0"/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err="1"/>
              <a:t>try</a:t>
            </a:r>
            <a:r>
              <a:rPr lang="tr-TR" sz="1800" dirty="0"/>
              <a:t>:</a:t>
            </a:r>
          </a:p>
          <a:p>
            <a:pPr marL="0" indent="0">
              <a:buNone/>
            </a:pPr>
            <a:r>
              <a:rPr lang="tr-TR" sz="1800" dirty="0"/>
              <a:t>        </a:t>
            </a:r>
            <a:r>
              <a:rPr lang="tr-TR" sz="1800" dirty="0" err="1"/>
              <a:t>event</a:t>
            </a:r>
            <a:r>
              <a:rPr lang="tr-TR" sz="1800" dirty="0"/>
              <a:t> = </a:t>
            </a:r>
            <a:r>
              <a:rPr lang="tr-TR" sz="1800" dirty="0" err="1"/>
              <a:t>parse_line</a:t>
            </a:r>
            <a:r>
              <a:rPr lang="tr-TR" sz="1800" dirty="0"/>
              <a:t>(</a:t>
            </a:r>
            <a:r>
              <a:rPr lang="tr-TR" sz="1800" dirty="0" err="1"/>
              <a:t>line</a:t>
            </a:r>
            <a:r>
              <a:rPr lang="tr-TR" sz="1800" dirty="0"/>
              <a:t>)</a:t>
            </a:r>
          </a:p>
          <a:p>
            <a:pPr marL="0" indent="0">
              <a:buNone/>
            </a:pPr>
            <a:r>
              <a:rPr lang="tr-TR" sz="1800" dirty="0"/>
              <a:t>        </a:t>
            </a:r>
            <a:r>
              <a:rPr lang="tr-TR" sz="1800" dirty="0" err="1"/>
              <a:t>records.append</a:t>
            </a:r>
            <a:r>
              <a:rPr lang="tr-TR" sz="1800" dirty="0"/>
              <a:t>(</a:t>
            </a:r>
            <a:r>
              <a:rPr lang="tr-TR" sz="1800" dirty="0" err="1"/>
              <a:t>event</a:t>
            </a:r>
            <a:r>
              <a:rPr lang="tr-TR" sz="1800" dirty="0"/>
              <a:t>)</a:t>
            </a:r>
          </a:p>
          <a:p>
            <a:pPr marL="0" indent="0">
              <a:buNone/>
            </a:pPr>
            <a:r>
              <a:rPr lang="tr-TR" sz="1800" dirty="0"/>
              <a:t>    </a:t>
            </a:r>
            <a:r>
              <a:rPr lang="tr-TR" sz="1800" dirty="0" err="1"/>
              <a:t>except</a:t>
            </a:r>
            <a:r>
              <a:rPr lang="tr-TR" sz="1800" dirty="0"/>
              <a:t> </a:t>
            </a:r>
            <a:r>
              <a:rPr lang="tr-TR" sz="1800" dirty="0" err="1"/>
              <a:t>ValueError</a:t>
            </a:r>
            <a:r>
              <a:rPr lang="tr-TR" sz="1800" dirty="0"/>
              <a:t> as </a:t>
            </a:r>
            <a:r>
              <a:rPr lang="tr-TR" sz="1800" dirty="0" err="1"/>
              <a:t>error</a:t>
            </a:r>
            <a:r>
              <a:rPr lang="tr-TR" sz="1800" dirty="0"/>
              <a:t>:</a:t>
            </a:r>
          </a:p>
          <a:p>
            <a:pPr marL="0" indent="0">
              <a:buNone/>
            </a:pPr>
            <a:r>
              <a:rPr lang="tr-TR" sz="1800" dirty="0"/>
              <a:t>        </a:t>
            </a:r>
            <a:r>
              <a:rPr lang="tr-TR" sz="1800" dirty="0" err="1"/>
              <a:t>print</a:t>
            </a:r>
            <a:r>
              <a:rPr lang="tr-TR" sz="1800" dirty="0"/>
              <a:t>(</a:t>
            </a:r>
          </a:p>
          <a:p>
            <a:pPr marL="0" indent="0">
              <a:buNone/>
            </a:pPr>
            <a:r>
              <a:rPr lang="tr-TR" sz="1800" dirty="0"/>
              <a:t>            "Hatalı satır atlandı:",</a:t>
            </a:r>
          </a:p>
          <a:p>
            <a:pPr marL="0" indent="0">
              <a:buNone/>
            </a:pPr>
            <a:r>
              <a:rPr lang="tr-TR" sz="1800" dirty="0"/>
              <a:t>            </a:t>
            </a:r>
            <a:r>
              <a:rPr lang="tr-TR" sz="1800" dirty="0" err="1"/>
              <a:t>error</a:t>
            </a:r>
            <a:endParaRPr lang="tr-TR" sz="1800" dirty="0"/>
          </a:p>
          <a:p>
            <a:pPr marL="0" indent="0">
              <a:buNone/>
            </a:pPr>
            <a:r>
              <a:rPr lang="tr-TR" sz="1800" dirty="0"/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537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7BD19D-61EB-BA18-CF32-30DE2282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ÖZET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6664FAAD-366C-07A8-B56E-877FE2BBD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110865"/>
              </p:ext>
            </p:extLst>
          </p:nvPr>
        </p:nvGraphicFramePr>
        <p:xfrm>
          <a:off x="2878667" y="1317625"/>
          <a:ext cx="4820667" cy="46329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289493">
                  <a:extLst>
                    <a:ext uri="{9D8B030D-6E8A-4147-A177-3AD203B41FA5}">
                      <a16:colId xmlns:a16="http://schemas.microsoft.com/office/drawing/2014/main" val="1805712311"/>
                    </a:ext>
                  </a:extLst>
                </a:gridCol>
                <a:gridCol w="2531174">
                  <a:extLst>
                    <a:ext uri="{9D8B030D-6E8A-4147-A177-3AD203B41FA5}">
                      <a16:colId xmlns:a16="http://schemas.microsoft.com/office/drawing/2014/main" val="1595560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Dosya 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Path.read_text</a:t>
                      </a:r>
                      <a:r>
                        <a:rPr lang="tr-TR" sz="2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578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 err="1"/>
                        <a:t>String</a:t>
                      </a:r>
                      <a:r>
                        <a:rPr lang="tr-TR" sz="2500" dirty="0"/>
                        <a:t> işlemleri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strip</a:t>
                      </a:r>
                      <a:r>
                        <a:rPr lang="tr-TR" sz="2500" dirty="0"/>
                        <a:t>()</a:t>
                      </a:r>
                    </a:p>
                    <a:p>
                      <a:r>
                        <a:rPr lang="tr-TR" sz="2500" dirty="0" err="1"/>
                        <a:t>split</a:t>
                      </a:r>
                      <a:r>
                        <a:rPr lang="tr-TR" sz="2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64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 err="1"/>
                        <a:t>List</a:t>
                      </a:r>
                      <a:endParaRPr lang="tr-T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records</a:t>
                      </a:r>
                      <a:r>
                        <a:rPr lang="tr-TR" sz="2500" dirty="0"/>
                        <a:t> = []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681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event</a:t>
                      </a:r>
                      <a:r>
                        <a:rPr lang="tr-TR" sz="2500" dirty="0"/>
                        <a:t>["</a:t>
                      </a:r>
                      <a:r>
                        <a:rPr lang="tr-TR" sz="2500" dirty="0" err="1"/>
                        <a:t>src_ip</a:t>
                      </a:r>
                      <a:r>
                        <a:rPr lang="tr-TR" sz="2500" dirty="0"/>
                        <a:t>"]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22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Döngü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For</a:t>
                      </a:r>
                      <a:endParaRPr lang="tr-T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05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Koşul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If</a:t>
                      </a:r>
                      <a:endParaRPr lang="tr-T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540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Fonksiyon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parse_line</a:t>
                      </a:r>
                      <a:r>
                        <a:rPr lang="tr-TR" sz="2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62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/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/>
                        <a:t>Counter()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22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2500" dirty="0" err="1"/>
                        <a:t>Exception</a:t>
                      </a:r>
                      <a:endParaRPr lang="tr-TR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500" dirty="0" err="1"/>
                        <a:t>Try</a:t>
                      </a:r>
                      <a:r>
                        <a:rPr lang="tr-TR" sz="2500" dirty="0"/>
                        <a:t> / </a:t>
                      </a:r>
                      <a:r>
                        <a:rPr lang="tr-TR" sz="2500" dirty="0" err="1"/>
                        <a:t>except</a:t>
                      </a:r>
                      <a:endParaRPr lang="tr-TR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23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200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9131179A-F97F-3A46-460D-3C4C8A0650FE}"/>
              </a:ext>
            </a:extLst>
          </p:cNvPr>
          <p:cNvSpPr/>
          <p:nvPr/>
        </p:nvSpPr>
        <p:spPr>
          <a:xfrm>
            <a:off x="1303867" y="1875367"/>
            <a:ext cx="1879600" cy="310726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Parsing</a:t>
            </a:r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r>
              <a:rPr lang="tr-TR" dirty="0"/>
              <a:t>LOG</a:t>
            </a:r>
          </a:p>
          <a:p>
            <a:pPr algn="ctr"/>
            <a:r>
              <a:rPr lang="tr-TR" dirty="0"/>
              <a:t> ↓</a:t>
            </a:r>
          </a:p>
          <a:p>
            <a:pPr algn="ctr"/>
            <a:r>
              <a:rPr lang="tr-TR" dirty="0"/>
              <a:t>Dictionary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8EC49CD-C22B-E6E9-4DA3-81D4322BCD02}"/>
              </a:ext>
            </a:extLst>
          </p:cNvPr>
          <p:cNvSpPr/>
          <p:nvPr/>
        </p:nvSpPr>
        <p:spPr>
          <a:xfrm>
            <a:off x="4648200" y="1845734"/>
            <a:ext cx="1879600" cy="310726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Analysis</a:t>
            </a:r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r>
              <a:rPr lang="tr-TR" dirty="0"/>
              <a:t>Dictionary</a:t>
            </a:r>
          </a:p>
          <a:p>
            <a:pPr algn="ctr"/>
            <a:r>
              <a:rPr lang="tr-TR" dirty="0"/>
              <a:t> ↓</a:t>
            </a:r>
          </a:p>
          <a:p>
            <a:pPr algn="ctr"/>
            <a:r>
              <a:rPr lang="tr-TR" dirty="0"/>
              <a:t>Counter</a:t>
            </a:r>
          </a:p>
          <a:p>
            <a:pPr algn="ctr"/>
            <a:r>
              <a:rPr lang="tr-TR" dirty="0"/>
              <a:t> ↓</a:t>
            </a:r>
          </a:p>
          <a:p>
            <a:pPr algn="ctr"/>
            <a:r>
              <a:rPr lang="tr-TR" dirty="0"/>
              <a:t>Security Information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2CAFD64-78CB-D538-8ACE-AC1485E27DA1}"/>
              </a:ext>
            </a:extLst>
          </p:cNvPr>
          <p:cNvSpPr/>
          <p:nvPr/>
        </p:nvSpPr>
        <p:spPr>
          <a:xfrm>
            <a:off x="7857067" y="1875367"/>
            <a:ext cx="1879600" cy="310726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/>
              <a:t>Detection</a:t>
            </a:r>
            <a:endParaRPr lang="tr-TR" dirty="0"/>
          </a:p>
          <a:p>
            <a:pPr algn="ctr"/>
            <a:endParaRPr lang="tr-TR" dirty="0"/>
          </a:p>
          <a:p>
            <a:pPr algn="ctr"/>
            <a:endParaRPr lang="tr-TR" dirty="0"/>
          </a:p>
          <a:p>
            <a:pPr algn="ctr"/>
            <a:r>
              <a:rPr lang="tr-TR" dirty="0"/>
              <a:t>Security Information</a:t>
            </a:r>
          </a:p>
          <a:p>
            <a:pPr algn="ctr"/>
            <a:r>
              <a:rPr lang="tr-TR" dirty="0"/>
              <a:t> ↓</a:t>
            </a:r>
          </a:p>
          <a:p>
            <a:pPr algn="ctr"/>
            <a:r>
              <a:rPr lang="tr-TR" dirty="0" err="1"/>
              <a:t>Rule</a:t>
            </a:r>
            <a:endParaRPr lang="tr-TR" dirty="0"/>
          </a:p>
          <a:p>
            <a:pPr algn="ctr"/>
            <a:r>
              <a:rPr lang="tr-TR" dirty="0"/>
              <a:t> ↓</a:t>
            </a:r>
          </a:p>
          <a:p>
            <a:pPr algn="ctr"/>
            <a:r>
              <a:rPr lang="tr-TR" dirty="0"/>
              <a:t>ALERT</a:t>
            </a:r>
          </a:p>
        </p:txBody>
      </p:sp>
    </p:spTree>
    <p:extLst>
      <p:ext uri="{BB962C8B-B14F-4D97-AF65-F5344CB8AC3E}">
        <p14:creationId xmlns:p14="http://schemas.microsoft.com/office/powerpoint/2010/main" val="3261997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İD" val="c62ce891-95e0-461e-bfa1-7039228403b9"/>
  <p:tag name="CLASSİFİCATİONTAGSETID" val="e16409a7-1700-4153-9090-3955bc2f0ae8"/>
  <p:tag name="CLASSİFİCATİON" val="Anonim"/>
  <p:tag name="COMPLİANCETAGSETID" val="f14fc1f1-8950-40d5-8a29-45909da947d6"/>
  <p:tag name="FİLEID" val="c62ce891-95e0-461e-bfa1-7039228403b9"/>
  <p:tag name="USERID" val="Fatih Kaplan"/>
  <p:tag name="TAGDATETİME" val="2026-09-21T20:25:22Z"/>
  <p:tag name="GVDATA" val="eyJPUyI6IldpbmRvd3MiLCJkb2NJRCI6ImM2MmNlODkxLTk1ZTAtNDYxZS1iZmExLTcwMzkyMjg0MDNiOSIsImRvY1N0YXRlIjoie30iLCJwYXJlbnRMaW5lSWRzIjoiW1wiYTZkZjFhN2UtN2Q5My00NjZkLTkxNGMtMWQ5ODY3NTcyYTEzXCIsXCJiNzQ1YmMzZC00"/>
  <p:tag name="GVDATA0" val="NDk3LTRlMjktYjM1Zi05MGU4OTZmYjA2MWVcIixcImFmODBlYTNlLTQ0ZWMtNDA3OC1iNzFmLWUwYTc1NjUxNjFlZVwiLFwiYzBlZWQ1OTctNTQ4MS00ZjlkLWI2NjItZTAzZGY3YjJlNThiXCIsXCIzZGM0YmM4NS03MmE1LTQ0NzMtYmVkMC01OWMzMjYwNWY3ZWFc"/>
  <p:tag name="GVDATA1" val="IixcImQzMTkzOWNhLWRlOGQtNGQyNS1iYjExLTUxNTAxNTE2ZjY1YlwiLFwiMmMxZTk4YTYtYzY4OC00MTBkLWE0NDYtZWFiOGU0MzM4NGZhXCIsXCJhOTFkZWY0ZS1iYjIyLTQ3ZGMtYmRkZC1hZGNkOGE0MDE0NmRcIixcIjI1MGFmMjc3LTI3NGUtNDJjNS05ODI5"/>
  <p:tag name="GVDATA2" val="LTg2NmQ1YTNhZTM0NVwiLFwiOTJjNjI0YzYtZTVkOS00NmU2LWJiNzUtZTM2N2NjNjkzNDRkXCJdIiwid3JpdHRlbktleXMiOiJbXCJDbGFzc2lmaWNhdGlvblwiLFwiQ2xhc3NpZmljYXRpb25UYWdTZXRJZFwiLFwiQ29tcGxpYW5jZVRhZ1NldElkXCIsXCJGaWxl"/>
  <p:tag name="GVDATA3" val="SWRcIixcImd2ZG9jaWRcIixcIlRhZ0RhdGVUaW1lXCIsXCJVc2VySWRcIl0iLCJub09mR3ZEYXRhRW50cmllcyI6IjYiLCJsaW5lSWQiOiI5Yjc5ODFiMy1mM2RmLTQ3MmQtOTljZC1lOTdhNjM5NGU4OTIiLCJ0YWdzZXRfZTE2NDA5YTdfMTcwMF80MTUzXzkwOTBf"/>
  <p:tag name="GVDATA4" val="Mzk1NWJjMmYwYWU4X2NsYXNzaWZpY2F0aW9uIjoiUHVibGljIn0="/>
  <p:tag name="GVDATA5" val="(end)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2233</Words>
  <Application>Microsoft Office PowerPoint</Application>
  <PresentationFormat>Geniş ekran</PresentationFormat>
  <Paragraphs>489</Paragraphs>
  <Slides>43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Wingdings</vt:lpstr>
      <vt:lpstr>Office Teması</vt:lpstr>
      <vt:lpstr>Python ile Log Ayrıştırma Ham veriden anlamlı güvenlik olayına</vt:lpstr>
      <vt:lpstr>Bu satır neyi ifade ediyor ?</vt:lpstr>
      <vt:lpstr>PowerPoint Sunusu</vt:lpstr>
      <vt:lpstr>Log Nedir?</vt:lpstr>
      <vt:lpstr>PowerPoint Sunusu</vt:lpstr>
      <vt:lpstr>auth.log Dosyası ile çalış</vt:lpstr>
      <vt:lpstr>Log Satırının Anatomisi</vt:lpstr>
      <vt:lpstr>hedefimiz Python'da bunu:</vt:lpstr>
      <vt:lpstr>Parser'ın Görevi</vt:lpstr>
      <vt:lpstr>PowerPoint Sunusu</vt:lpstr>
      <vt:lpstr>PowerPoint Sunusu</vt:lpstr>
      <vt:lpstr>student/week02_log_parser.py</vt:lpstr>
      <vt:lpstr>student/week02_log_parser.py</vt:lpstr>
      <vt:lpstr>Önce Dosyanın Yerini Bul</vt:lpstr>
      <vt:lpstr>Path</vt:lpstr>
      <vt:lpstr>Dosyayı Okuma</vt:lpstr>
      <vt:lpstr>Satırlara ayırma</vt:lpstr>
      <vt:lpstr>PowerPoint Sunusu</vt:lpstr>
      <vt:lpstr>İlk log satırını parse etme (Boşluklara göre metni parçalama)</vt:lpstr>
      <vt:lpstr>strip() ve split()</vt:lpstr>
      <vt:lpstr>Timestamp</vt:lpstr>
      <vt:lpstr>Why We Use Dictionary</vt:lpstr>
      <vt:lpstr>key=value Alanlarını Parçala</vt:lpstr>
      <vt:lpstr>Neden split("=", 1)?</vt:lpstr>
      <vt:lpstr>Döngü</vt:lpstr>
      <vt:lpstr>Fonksiyon Haline Getirme</vt:lpstr>
      <vt:lpstr>Bütün Logları Parse Et</vt:lpstr>
      <vt:lpstr>İlk 3 event</vt:lpstr>
      <vt:lpstr>Kaç SUCCESS, kaç FAILED var?</vt:lpstr>
      <vt:lpstr>Veri setine göre counter ile sayım</vt:lpstr>
      <vt:lpstr>21 başarısız giriş görmek:  Saldırı olduğu anlamına gelir mi?</vt:lpstr>
      <vt:lpstr>Hayır. Bir kullanıcının parolasını yanlış yazması da FAILED üretir. Tek başına yeterli değildir, Bağlam gerekiyor.</vt:lpstr>
      <vt:lpstr>FAILED olaylar hangi IP'lerden geliyor?</vt:lpstr>
      <vt:lpstr>En Fazla FAILED Üreten IP</vt:lpstr>
      <vt:lpstr>Güvenlik Analistiyiz (SOC L1 Manager)</vt:lpstr>
      <vt:lpstr>PowerPoint Sunusu</vt:lpstr>
      <vt:lpstr>Güvenlik Analizi Yol Haritası (Korelasyon ve Mini SIEM Öncesi)</vt:lpstr>
      <vt:lpstr>main() Fonksiyonu Tamamla</vt:lpstr>
      <vt:lpstr>Tam kod</vt:lpstr>
      <vt:lpstr>Hata Yönetimi</vt:lpstr>
      <vt:lpstr>PowerPoint Sunusu</vt:lpstr>
      <vt:lpstr>ÖZET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Fatih Kaplan</dc:creator>
  <cp:lastModifiedBy>Fatih Kaplan</cp:lastModifiedBy>
  <cp:revision>1</cp:revision>
  <dcterms:created xsi:type="dcterms:W3CDTF">2026-09-19T20:02:00Z</dcterms:created>
  <dcterms:modified xsi:type="dcterms:W3CDTF">2026-09-21T20:25:22Z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c62ce891-95e0-461e-bfa1-7039228403b9</vt:lpwstr>
  </property>
  <property fmtid="{D5CDD505-2E9C-101B-9397-08002B2CF9AE}" pid="3" name="ClassificationTagSetId">
    <vt:lpwstr>e16409a7-1700-4153-9090-3955bc2f0ae8</vt:lpwstr>
  </property>
  <property fmtid="{D5CDD505-2E9C-101B-9397-08002B2CF9AE}" pid="4" name="ComplianceTagSetId">
    <vt:lpwstr>f14fc1f1-8950-40d5-8a29-45909da947d6</vt:lpwstr>
  </property>
  <property fmtid="{D5CDD505-2E9C-101B-9397-08002B2CF9AE}" pid="5" name="FileId">
    <vt:lpwstr>c62ce891-95e0-461e-bfa1-7039228403b9</vt:lpwstr>
  </property>
  <property fmtid="{D5CDD505-2E9C-101B-9397-08002B2CF9AE}" pid="6" name="Classification">
    <vt:lpwstr>Anonim</vt:lpwstr>
  </property>
  <property fmtid="{D5CDD505-2E9C-101B-9397-08002B2CF9AE}" pid="7" name="UserId">
    <vt:lpwstr>Fatih Kaplan</vt:lpwstr>
  </property>
  <property fmtid="{D5CDD505-2E9C-101B-9397-08002B2CF9AE}" pid="8" name="TagDateTime">
    <vt:lpwstr>2026-09-21T20:25:22Z</vt:lpwstr>
  </property>
  <property fmtid="{D5CDD505-2E9C-101B-9397-08002B2CF9AE}" pid="9" name="GVData">
    <vt:lpwstr>eyJPUyI6IldpbmRvd3MiLCJkb2NJRCI6ImM2MmNlODkxLTk1ZTAtNDYxZS1iZmExLTcwMzkyMjg0MDNiOSIsImRvY1N0YXRlIjoie30iLCJwYXJlbnRMaW5lSWRzIjoiW1wiYTZkZjFhN2UtN2Q5My00NjZkLTkxNGMtMWQ5ODY3NTcyYTEzXCIsXCJiNzQ1YmMzZC00</vt:lpwstr>
  </property>
  <property fmtid="{D5CDD505-2E9C-101B-9397-08002B2CF9AE}" pid="10" name="GVData0">
    <vt:lpwstr>NDk3LTRlMjktYjM1Zi05MGU4OTZmYjA2MWVcIixcImFmODBlYTNlLTQ0ZWMtNDA3OC1iNzFmLWUwYTc1NjUxNjFlZVwiLFwiYzBlZWQ1OTctNTQ4MS00ZjlkLWI2NjItZTAzZGY3YjJlNThiXCIsXCIzZGM0YmM4NS03MmE1LTQ0NzMtYmVkMC01OWMzMjYwNWY3ZWFc</vt:lpwstr>
  </property>
  <property fmtid="{D5CDD505-2E9C-101B-9397-08002B2CF9AE}" pid="11" name="GVData1">
    <vt:lpwstr>IixcImQzMTkzOWNhLWRlOGQtNGQyNS1iYjExLTUxNTAxNTE2ZjY1YlwiLFwiMmMxZTk4YTYtYzY4OC00MTBkLWE0NDYtZWFiOGU0MzM4NGZhXCIsXCJhOTFkZWY0ZS1iYjIyLTQ3ZGMtYmRkZC1hZGNkOGE0MDE0NmRcIixcIjI1MGFmMjc3LTI3NGUtNDJjNS05ODI5</vt:lpwstr>
  </property>
  <property fmtid="{D5CDD505-2E9C-101B-9397-08002B2CF9AE}" pid="12" name="GVData2">
    <vt:lpwstr>LTg2NmQ1YTNhZTM0NVwiLFwiOTJjNjI0YzYtZTVkOS00NmU2LWJiNzUtZTM2N2NjNjkzNDRkXCJdIiwid3JpdHRlbktleXMiOiJbXCJDbGFzc2lmaWNhdGlvblwiLFwiQ2xhc3NpZmljYXRpb25UYWdTZXRJZFwiLFwiQ29tcGxpYW5jZVRhZ1NldElkXCIsXCJGaWxl</vt:lpwstr>
  </property>
  <property fmtid="{D5CDD505-2E9C-101B-9397-08002B2CF9AE}" pid="13" name="GVData3">
    <vt:lpwstr>SWRcIixcImd2ZG9jaWRcIixcIlRhZ0RhdGVUaW1lXCIsXCJVc2VySWRcIl0iLCJub09mR3ZEYXRhRW50cmllcyI6IjYiLCJsaW5lSWQiOiI5Yjc5ODFiMy1mM2RmLTQ3MmQtOTljZC1lOTdhNjM5NGU4OTIiLCJ0YWdzZXRfZTE2NDA5YTdfMTcwMF80MTUzXzkwOTBf</vt:lpwstr>
  </property>
  <property fmtid="{D5CDD505-2E9C-101B-9397-08002B2CF9AE}" pid="14" name="GVData4">
    <vt:lpwstr>Mzk1NWJjMmYwYWU4X2NsYXNzaWZpY2F0aW9uIjoiUHVibGljIn0=</vt:lpwstr>
  </property>
  <property fmtid="{D5CDD505-2E9C-101B-9397-08002B2CF9AE}" pid="15" name="GVData5">
    <vt:lpwstr>(end)</vt:lpwstr>
  </property>
</Properties>
</file>